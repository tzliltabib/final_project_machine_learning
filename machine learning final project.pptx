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DM Serif Display" charset="1" panose="00000000000000000000"/>
      <p:regular r:id="rId37"/>
    </p:embeddedFont>
    <p:embeddedFont>
      <p:font typeface="Open Sauce Bold" charset="1" panose="00000800000000000000"/>
      <p:regular r:id="rId41"/>
    </p:embeddedFont>
    <p:embeddedFont>
      <p:font typeface="Open Sauce" charset="1" panose="00000500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notesMasters/notesMaster1.xml" Type="http://schemas.openxmlformats.org/officeDocument/2006/relationships/notesMaster"/><Relationship Id="rId39" Target="theme/theme2.xml" Type="http://schemas.openxmlformats.org/officeDocument/2006/relationships/theme"/><Relationship Id="rId4" Target="theme/theme1.xml" Type="http://schemas.openxmlformats.org/officeDocument/2006/relationships/theme"/><Relationship Id="rId40" Target="notesSlides/notesSlide1.xml" Type="http://schemas.openxmlformats.org/officeDocument/2006/relationships/notesSlide"/><Relationship Id="rId41" Target="fonts/font41.fntdata" Type="http://schemas.openxmlformats.org/officeDocument/2006/relationships/font"/><Relationship Id="rId42" Target="fonts/font42.fntdata" Type="http://schemas.openxmlformats.org/officeDocument/2006/relationships/font"/><Relationship Id="rId43" Target="notesSlides/notesSlide2.xml" Type="http://schemas.openxmlformats.org/officeDocument/2006/relationships/notesSlide"/><Relationship Id="rId44" Target="notesSlides/notesSlide3.xml" Type="http://schemas.openxmlformats.org/officeDocument/2006/relationships/notesSlide"/><Relationship Id="rId45" Target="notesSlides/notesSlide4.xml" Type="http://schemas.openxmlformats.org/officeDocument/2006/relationships/notesSlide"/><Relationship Id="rId46" Target="notesSlides/notesSlide5.xml" Type="http://schemas.openxmlformats.org/officeDocument/2006/relationships/notesSlide"/><Relationship Id="rId47" Target="notesSlides/notesSlide6.xml" Type="http://schemas.openxmlformats.org/officeDocument/2006/relationships/notesSlide"/><Relationship Id="rId48" Target="notesSlides/notesSlide7.xml" Type="http://schemas.openxmlformats.org/officeDocument/2006/relationships/notesSlide"/><Relationship Id="rId49" Target="notesSlides/notesSlide8.xml" Type="http://schemas.openxmlformats.org/officeDocument/2006/relationships/notesSlide"/><Relationship Id="rId5" Target="tableStyles.xml" Type="http://schemas.openxmlformats.org/officeDocument/2006/relationships/tableStyles"/><Relationship Id="rId50" Target="notesSlides/notesSlide9.xml" Type="http://schemas.openxmlformats.org/officeDocument/2006/relationships/notesSlide"/><Relationship Id="rId51" Target="notesSlides/notesSlide10.xml" Type="http://schemas.openxmlformats.org/officeDocument/2006/relationships/notesSlide"/><Relationship Id="rId52" Target="notesSlides/notesSlide11.xml" Type="http://schemas.openxmlformats.org/officeDocument/2006/relationships/notesSlide"/><Relationship Id="rId53" Target="notesSlides/notesSlide12.xml" Type="http://schemas.openxmlformats.org/officeDocument/2006/relationships/notesSlide"/><Relationship Id="rId54" Target="notesSlides/notesSlide13.xml" Type="http://schemas.openxmlformats.org/officeDocument/2006/relationships/notesSlide"/><Relationship Id="rId55" Target="notesSlides/notesSlide14.xml" Type="http://schemas.openxmlformats.org/officeDocument/2006/relationships/notesSlide"/><Relationship Id="rId56" Target="notesSlides/notesSlide15.xml" Type="http://schemas.openxmlformats.org/officeDocument/2006/relationships/notesSlide"/><Relationship Id="rId57" Target="notesSlides/notesSlide16.xml" Type="http://schemas.openxmlformats.org/officeDocument/2006/relationships/notesSlide"/><Relationship Id="rId58" Target="notesSlides/notesSlide17.xml" Type="http://schemas.openxmlformats.org/officeDocument/2006/relationships/notesSlide"/><Relationship Id="rId59" Target="notesSlides/notesSlide18.xml" Type="http://schemas.openxmlformats.org/officeDocument/2006/relationships/notesSlide"/><Relationship Id="rId6" Target="slides/slide1.xml" Type="http://schemas.openxmlformats.org/officeDocument/2006/relationships/slide"/><Relationship Id="rId60" Target="notesSlides/notesSlide19.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Train-test split (stratify by emotion for proportional division)</a:t>
            </a:r>
          </a:p>
          <a:p>
            <a:r>
              <a:rPr lang="en-US"/>
              <a:t>EDA - null analysis, variable distribution, clustering</a:t>
            </a:r>
          </a:p>
          <a:p>
            <a:r>
              <a:rPr lang="en-US"/>
              <a:t>Pre-processing variables:</a:t>
            </a:r>
          </a:p>
          <a:p>
            <a:r>
              <a:rPr lang="en-US"/>
              <a:t> TF-IDF for textual variables (hyperparameter tuning using CV on logistic regression)</a:t>
            </a:r>
          </a:p>
          <a:p>
            <a:r>
              <a:rPr lang="en-US"/>
              <a:t> Multilabel encoder for targer variable </a:t>
            </a:r>
          </a:p>
          <a:p>
            <a:r>
              <a:rPr lang="en-US"/>
              <a:t> Standartizing numeric variables</a:t>
            </a:r>
          </a:p>
          <a:p>
            <a:r>
              <a:rPr lang="en-US"/>
              <a:t> PCA for dimension reduction of embedded variables (hyperparameter tuning using CV on logistic regression)</a:t>
            </a:r>
          </a:p>
          <a:p>
            <a:r>
              <a:rPr lang="en-US"/>
              <a:t>Fitting a model with the tabular data (hyperparameter tuning using CV on each model)</a:t>
            </a:r>
          </a:p>
          <a:p>
            <a:r>
              <a:rPr lang="en-US"/>
              <a:t>Fitting a model with the embedded variables (hyperparameter tuning using CV on each model)</a:t>
            </a:r>
          </a:p>
          <a:p>
            <a:r>
              <a:rPr lang="en-US"/>
              <a:t>Applying same transformations on the test set and testing tabular and embedding best models.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elbow curve shows no sharp bend at k=8 (8 emotions) — inertia decreases smoothly, meaning the data doesn't naturally "want" to split into exactly 8 groups. The silhouette scores are very low across the board (0.07–0.13), which means cluster assignments are weak — most points sit near the boundary between clusters rather than deep inside one. Notably, silhouette keeps climbing past k=8, suggesting the data has more fine-grained structure (maybe sub-clusters within emotions) rather than 8 clean groups.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אם יש זמן - להתייחס ללמה אובייקט הוא טקסטואלי ולא קטגוריאלי - היו יותר מידי אובייקטים - התייחסות כקטגוריאלי הוסיף יותר מידי משתנים</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להסביר למה בחרנו את 4 המודלים הספציפיים האלה - </a:t>
            </a:r>
          </a:p>
          <a:p>
            <a:r>
              <a:rPr lang="en-US"/>
              <a:t>רגרסיה לוגיסטית</a:t>
            </a:r>
          </a:p>
          <a:p>
            <a:r>
              <a:rPr lang="en-US"/>
              <a:t>1. רגרסיה לוגיסטית - מאפשר פרשנות של המודל ושל הפיצ'רים המשמעותיים ביותר. חשוב לציין שהיא  מולטי לייבל ולא בינארי</a:t>
            </a:r>
          </a:p>
          <a:p>
            <a:r>
              <a:rPr lang="en-US"/>
              <a:t>2. RF &amp; GB - יתפסו דפוסים לא לינארים אם קיימים (כנראה שאין אז הם לא עבדו טוב יותר)</a:t>
            </a:r>
          </a:p>
          <a:p>
            <a:r>
              <a:rPr lang="en-US"/>
              <a:t>3. KNN - רגיש לסקיילינג ורעש, ידרוש נורמליזציה מושלמת בין המשתנים, לא טוב בהרבה מימדים כי משמעות המרחק האוקלידי מתפוגגת בכל כך הרבה מימדים והסקה לפי קרבה חסרת משמעות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בהירות וצבעוניות היו מנבאים חזקים של רגשות - יחס ישר לרגשות חיוביים וחיס הפוך לרגשות שליליים </a:t>
            </a:r>
          </a:p>
          <a:p>
            <a:r>
              <a:rPr lang="en-US"/>
              <a:t>* viewers feeling יכול להיות דומה או זהה לרגש שמנסים לנבא, אז המילה הספציפית היא מנבא חזק לרגש</a:t>
            </a:r>
          </a:p>
          <a:p>
            <a:r>
              <a:rPr lang="en-US"/>
              <a:t/>
            </a:r>
          </a:p>
          <a:p>
            <a:r>
              <a:rPr lang="en-US"/>
              <a:t>* מילים ספציפיות - joy - ביחס ישר עם רגשות חיוביים והפוך עם שליליים, חוזר הרבה (בכולם חוץ מ-awe)</a:t>
            </a:r>
          </a:p>
          <a:p>
            <a:r>
              <a:rPr lang="en-US"/>
              <a:t/>
            </a:r>
          </a:p>
          <a:p>
            <a:r>
              <a:rPr lang="en-US"/>
              <a:t>* יש הרבה מילים שלא ברור למה הן מנבאות טוב, מעניין לחשוב על זה מנק' מבט פסיכולוגית (פרשנות לרגשות)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בהירות וצבעוניות היו מנבאים חזקים של רגשות - יחס ישר לרגשות חיוביים וחיס הפוך לרגשות שליליים </a:t>
            </a:r>
          </a:p>
          <a:p>
            <a:r>
              <a:rPr lang="en-US"/>
              <a:t>* viewers feeling יכול להיות דומה או זהה לרגש שמנסים לנבא, אז המילה הספציפית היא מנבא חזק לרגש</a:t>
            </a:r>
          </a:p>
          <a:p>
            <a:r>
              <a:rPr lang="en-US"/>
              <a:t/>
            </a:r>
          </a:p>
          <a:p>
            <a:r>
              <a:rPr lang="en-US"/>
              <a:t>* מילים ספציפיות - joy - ביחס ישר עם רגשות חיוביים והפוך עם שליליים, חוזר הרבה (בכולם חוץ מ-awe)</a:t>
            </a:r>
          </a:p>
          <a:p>
            <a:r>
              <a:rPr lang="en-US"/>
              <a:t/>
            </a:r>
          </a:p>
          <a:p>
            <a:r>
              <a:rPr lang="en-US"/>
              <a:t>* יש הרבה מילים שלא ברור למה הן מנבאות טוב, מעניין לחשוב על זה מנק' מבט פסיכולוגית (פרשנות לרגשות)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בהירות וצבעוניות היו מנבאים חזקים של רגשות - יחס ישר לרגשות חיוביים וחיס הפוך לרגשות שליליים </a:t>
            </a:r>
          </a:p>
          <a:p>
            <a:r>
              <a:rPr lang="en-US"/>
              <a:t>* viewers feeling יכול להיות דומה או זהה לרגש שמנסים לנבא, אז המילה הספציפית היא מנבא חזק לרגש</a:t>
            </a:r>
          </a:p>
          <a:p>
            <a:r>
              <a:rPr lang="en-US"/>
              <a:t/>
            </a:r>
          </a:p>
          <a:p>
            <a:r>
              <a:rPr lang="en-US"/>
              <a:t>* מילים ספציפיות - joy - ביחס ישר עם רגשות חיוביים והפוך עם שליליים, חוזר הרבה (בכולם חוץ מ-awe)</a:t>
            </a:r>
          </a:p>
          <a:p>
            <a:r>
              <a:rPr lang="en-US"/>
              <a:t/>
            </a:r>
          </a:p>
          <a:p>
            <a:r>
              <a:rPr lang="en-US"/>
              <a:t>* יש הרבה מילים שלא ברור למה הן מנבאות טוב, מעניין לחשוב על זה מנק' מבט פסיכולוגית (פרשנות לרגשות)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בהירות וצבעוניות היו מנבאים חזקים של רגשות - יחס ישר לרגשות חיוביים וחיס הפוך לרגשות שליליים </a:t>
            </a:r>
          </a:p>
          <a:p>
            <a:r>
              <a:rPr lang="en-US"/>
              <a:t>* viewers feeling יכול להיות דומה או זהה לרגש שמנסים לנבא, אז המילה הספציפית היא מנבא חזק לרגש</a:t>
            </a:r>
          </a:p>
          <a:p>
            <a:r>
              <a:rPr lang="en-US"/>
              <a:t/>
            </a:r>
          </a:p>
          <a:p>
            <a:r>
              <a:rPr lang="en-US"/>
              <a:t>* מילים ספציפיות - joy - ביחס ישר עם רגשות חיוביים והפוך עם שליליים, חוזר הרבה (בכולם חוץ מ-awe)</a:t>
            </a:r>
          </a:p>
          <a:p>
            <a:r>
              <a:rPr lang="en-US"/>
              <a:t/>
            </a:r>
          </a:p>
          <a:p>
            <a:r>
              <a:rPr lang="en-US"/>
              <a:t>* יש הרבה מילים שלא ברור למה הן מנבאות טוב, מעניין לחשוב על זה מנק' מבט פסיכולוגית (פרשנות לרגשות)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SHAP-based feature ranking, you used cross-validation to find the optimal number of features to include. The AUC-vs-feature-count curve shows a steep climb from ~10 to ~50 features, then plateaus. The best cutoff was the top 90 features (CV AUC = 0.920). Importantly, using just 90 features performs essentially as well as using all features (dashed line), which means the model is more parsimonious and interpretable without losing predictive power. This SHAP-guided feature selection is a principled alternative to arbitrary cutoffs.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לקחנו את המודל הטוב ביותר עם הפיצ'רים החשובים ביותר (90), עיבדנו את הטסט סט באופן זהה לטריין - והרצנו את המודל עליו.</a:t>
            </a:r>
          </a:p>
          <a:p>
            <a:r>
              <a:rPr lang="en-US"/>
              <a:t/>
            </a:r>
          </a:p>
          <a:p>
            <a:r>
              <a:rPr lang="en-US"/>
              <a:t>להלן הממצאים:</a:t>
            </a:r>
          </a:p>
          <a:p>
            <a:r>
              <a:rPr lang="en-US"/>
              <a:t/>
            </a:r>
          </a:p>
          <a:p>
            <a:r>
              <a:rPr lang="en-US"/>
              <a:t/>
            </a:r>
          </a:p>
          <a:p>
            <a:r>
              <a:rPr lang="en-US"/>
              <a:t>The normalized confusion matrix (rows = true label, columns = predicted) shows that fear (0.76) and awe (0.70) are classified most accurately. The hardest emotion is contentment (recall 0.36) — it gets confused heavily with amusement (0.32) and awe (0.23). This makes psychological sense: contentment, amusement, and awe are all positive emotions that can co-occur in similar visual scenes. Sadness is also confused with anger (0.25), both negative emotions. The pattern of errors mirrors the valence structure observed in the EDA clustering.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confirms the EDA finding — the primary structure in the data is along a valence dimension. The model has essentially learned valence discrimination very well; the difficulty lies in the finer-grained 8-class task within each valence group.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החלטנו לעשות ablation analysis כדי לבחון את התרומה של כל משפחת פיצ'רים לניבוי של המודל וגילינו:</a:t>
            </a:r>
          </a:p>
          <a:p>
            <a:r>
              <a:rPr lang="en-US"/>
              <a:t>השוואה בין פיצ'רים טקסטואלים - 1. רגשות הכי טוב - סובייקטיבי - הכי רלוונטי למה שמנסים לנבא</a:t>
            </a:r>
          </a:p>
          <a:p>
            <a:r>
              <a:rPr lang="en-US"/>
              <a:t>2. תיאור - מלל אובייקטיבי אז פחות רלוונטי מרגשות, אבל יותר טוב מאובייקט </a:t>
            </a:r>
          </a:p>
          <a:p>
            <a:r>
              <a:rPr lang="en-US"/>
              <a:t>3. אובייקטיבי ומעט מידע (וקצת יותר מחצי ממנו חסר)</a:t>
            </a:r>
          </a:p>
          <a:p>
            <a:r>
              <a:rPr lang="en-US"/>
              <a:t>מספרים - עוזרים יותר ממה שציפינו, הרבה מעל המודל הנאיבי, מרמז על החשיבות של צבעוניות ובהירות התמונה לרגש שהיא מעוררת</a:t>
            </a:r>
          </a:p>
          <a:p>
            <a:r>
              <a:rPr lang="en-US"/>
              <a:t/>
            </a:r>
          </a:p>
          <a:p>
            <a:r>
              <a:rPr lang="en-US"/>
              <a:t>The ablation analysis isolates the contribution of each feature group. The most striking finding is that viewer feelings alone (acc = 0.560) outperforms description alone (acc = 0.380) substantially, even though both are textual features processed with TF-IDF. This makes sense: viewer feelings are semantically closer to the emotion label — they describe the subjective emotional reaction, not the objective scene content. Numeric features alone (brightness, colorfulness) achieve 0.245, well above chance (0.125 for 8 classes), confirming that even these two simple variables carry meaningful signal. The full model combining all features achieves the best accuracy (0.590).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getting to the model, </a:t>
            </a:r>
          </a:p>
          <a:p>
            <a:r>
              <a:rPr lang="en-US"/>
              <a:t>אחרי PCA של כל אחד מהמשתנים האימבדד (פילינג, תיאור התמונה, ואמבדינג של התמונה עצמה), נשארנו עם ~500-1500 ממדים לכל משתנה. </a:t>
            </a:r>
          </a:p>
          <a:p>
            <a:r>
              <a:rPr lang="en-US"/>
              <a:t/>
            </a:r>
          </a:p>
          <a:p>
            <a:r>
              <a:rPr lang="en-US"/>
              <a:t>כדי לבחון הפחתת ממדים - </a:t>
            </a:r>
          </a:p>
          <a:p>
            <a:r>
              <a:rPr lang="en-US"/>
              <a:t>רצינו לבחון כמה ממדים מכל משתנה צריך כדי להסביר 90% מהשונות. גילינו הפחתה משמעותית - בפילינגס צריך רק 152, בתמונה צריך רק 209, ובתיאור צריך רק 230. </a:t>
            </a:r>
          </a:p>
          <a:p>
            <a:r>
              <a:rPr lang="en-US"/>
              <a:t/>
            </a:r>
          </a:p>
          <a:p>
            <a:r>
              <a:rPr lang="en-US"/>
              <a:t>אחרי שראינו את זה, המשכנו להפחתת ממדים באופן מבוסס יותר עם קרוס וולידיישן על רגרסיה לוגיסטית (בדומה לאופן שבו בחרנו את מספר הפיצ'רים ב-TFIDF.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CV-based selection is more principled than variance-explained thresholds because it directly optimizes for the downstream task.</a:t>
            </a:r>
          </a:p>
          <a:p>
            <a:r>
              <a:rPr lang="en-US"/>
              <a:t/>
            </a:r>
          </a:p>
          <a:p>
            <a:r>
              <a:rPr lang="en-US"/>
              <a:t/>
            </a:r>
          </a:p>
          <a:p>
            <a:r>
              <a:rPr lang="en-US"/>
              <a:t>We selected the number of PCA components that maximizes cross-validated AUC. The optimal values were: 60 components for image embedding (AUC = 0.955), 80 for description (AUC = 0.940), and only 40 for feelings (AUC = 0.959). The feelings embedding is the most compressed — 40 components suffice — suggesting it has a particularly concentrated structure relevant to emotion prediction.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אפשר לראות שכמעט כל העקומות בצבעים הירוקים/כחולים גבוהות יותר מהצבעים הורודים.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בגרף הזה השוונו בין המודלים, עם הפרמטרים שנמצאו הטובים ביותר לכל מודל. </a:t>
            </a:r>
          </a:p>
          <a:p>
            <a:r>
              <a:rPr lang="en-US"/>
              <a:t>אפשר לראות שL2 ,L1 ורנדום פורסט מבצעים זהה מבחינת AUC אבל ש-L2 מבצע הכי טוב מבחינת accuracy. </a:t>
            </a:r>
          </a:p>
          <a:p>
            <a:r>
              <a:rPr lang="en-US"/>
              <a:t/>
            </a:r>
          </a:p>
          <a:p>
            <a:r>
              <a:rPr lang="en-US"/>
              <a:t>***להוסיף הסבר***</a:t>
            </a:r>
          </a:p>
          <a:p>
            <a:r>
              <a:rPr lang="en-US"/>
              <a:t>which makes sense given that the input is already PCA-compressed (low-dimensional, dense), so L1's sparsity-inducing property offers no advantage.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אחרי שנבחר המודל הטוב ביותר, עשינו את כל הטרנספורמציות על הטסט סט והרצנו אותו. </a:t>
            </a:r>
          </a:p>
          <a:p>
            <a:r>
              <a:rPr lang="en-US"/>
              <a:t/>
            </a:r>
          </a:p>
          <a:p>
            <a:r>
              <a:rPr lang="en-US"/>
              <a:t>הרגשות עם הניבוי המדויק ביותר: </a:t>
            </a:r>
          </a:p>
          <a:p>
            <a:r>
              <a:rPr lang="en-US"/>
              <a:t>* גועל</a:t>
            </a:r>
          </a:p>
          <a:p>
            <a:r>
              <a:rPr lang="en-US"/>
              <a:t>* כעס</a:t>
            </a:r>
          </a:p>
          <a:p>
            <a:r>
              <a:rPr lang="en-US"/>
              <a:t>* התרגשות</a:t>
            </a:r>
          </a:p>
          <a:p>
            <a:r>
              <a:rPr lang="en-US"/>
              <a:t>* עצב</a:t>
            </a:r>
          </a:p>
          <a:p>
            <a:r>
              <a:rPr lang="en-US"/>
              <a:t/>
            </a:r>
          </a:p>
          <a:p>
            <a:r>
              <a:rPr lang="en-US"/>
              <a:t>נראה שהאלכסון הרבה יותר נקי - וזה תואם לערכי הדיוק הגבוהים יותר שראינו במודל האמבדינג לעומת הטבולרי. </a:t>
            </a:r>
          </a:p>
          <a:p>
            <a:r>
              <a:rPr lang="en-US"/>
              <a:t/>
            </a:r>
          </a:p>
          <a:p>
            <a:r>
              <a:rPr lang="en-US"/>
              <a:t>בדומה למודל הטבולרי, אנחנו רואות שוב שהמודל מתבלבל לרוב בתוך רגשות חיוביים/שליליים ולא ביניהם - אבל כן יש בלבול קטן בין התרגשות לכעס. </a:t>
            </a:r>
          </a:p>
          <a:p>
            <a:r>
              <a:rPr lang="en-US"/>
              <a:t/>
            </a:r>
          </a:p>
          <a:p>
            <a:r>
              <a:rPr lang="en-US"/>
              <a:t>הביצועים של המודל מאוד גבוהים וזהים בין רגשות שליליים וחיוביים.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the embedding model, feelings alone (acc = 0.715) is the strongest single source — surpassing image alone (0.665) and description alone (0.670). Combining image + feelings matches the full model (0.720), suggesting description adds little once image and feelings are included. The description embedding captures objective scene content, which is partially redundant with the image embedding. The feelings embedding, by contrast, encodes subjective emotional reactions, which is the most direct proxy for the emotion label.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כנראה שכשמבקשים מצ'אט גיפיטי להעריך רגש בתמונה מסוימת, הוא יודע לעשות את זה די טוב - ולכן מצאנו גם במודל הטאבולרי, וגם במודל אמבדינג שמכיל מידע מרודד יותר - שviewer feeling הוא תורם משמעותי לניבוי של רגש מהתמונה.</a:t>
            </a:r>
          </a:p>
          <a:p>
            <a:r>
              <a:rPr lang="en-US"/>
              <a:t>זה מאוד הגיוני, כולנו מרגישים שצ'אט יודע להעריך די טוב תגובות אנושיות. </a:t>
            </a:r>
          </a:p>
          <a:p>
            <a:r>
              <a:rPr lang="en-US"/>
              <a:t/>
            </a:r>
          </a:p>
          <a:p>
            <a:r>
              <a:rPr lang="en-US"/>
              <a:t>החלק המעניין, והיותר פסיכופיזי - זה שמרכיבים בסיסיים בתמונה, גם הבהירות והצבעוניות, וגם האמבדינג של התמונה ---&gt; הם תורמים משמעותיים גם לניבוי. כלומר, זה מכמת את המשמעות של אווירה כללית של תמונה לרגש שמתעורר בצופה. </a:t>
            </a:r>
          </a:p>
          <a:p>
            <a:r>
              <a:rPr lang="en-US"/>
              <a:t/>
            </a:r>
          </a:p>
          <a:p>
            <a:r>
              <a:rPr lang="en-US"/>
              <a:t>Emotions with clear visual "signatures" (disgust, fear, anger) are consistently easier to classify. Emotions that require more psychological nuance (contentment, amusement) are harder — even for the embedding model. This raises an interesting question about whether the labels themselves are noisy, since these emotions are genuinely ambiguous even for human annotators.</a:t>
            </a:r>
          </a:p>
          <a:p>
            <a:r>
              <a:rPr lang="en-US"/>
              <a:t/>
            </a:r>
          </a:p>
          <a:p>
            <a:r>
              <a:rPr lang="en-US"/>
              <a:t/>
            </a:r>
          </a:p>
          <a:p>
            <a:r>
              <a:rPr lang="en-US"/>
              <a:t>The valence confusion matrices (92-94% accuracy at the positive/negative level) suggest that coarse affective valence is highly recoverable from visual and semantic features, while fine-grained categorical emotion is much harder. This is consistent with theories suggesting valence is a more fundamental and universal dimension of affect than discrete emotion categories.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4.png" Type="http://schemas.openxmlformats.org/officeDocument/2006/relationships/image"/><Relationship Id="rId4" Target="../media/image2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8.png" Type="http://schemas.openxmlformats.org/officeDocument/2006/relationships/image"/><Relationship Id="rId4" Target="../media/image29.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VAGO_oc5dDs.mp4" Type="http://schemas.openxmlformats.org/officeDocument/2006/relationships/video"/><Relationship Id="rId4" Target="../media/VAGO_oc5dDs.mp4" Type="http://schemas.microsoft.com/office/2007/relationships/media"/></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18555" y="5279785"/>
            <a:ext cx="4495840" cy="5007215"/>
          </a:xfrm>
          <a:custGeom>
            <a:avLst/>
            <a:gdLst/>
            <a:ahLst/>
            <a:cxnLst/>
            <a:rect r="r" b="b" t="t" l="l"/>
            <a:pathLst>
              <a:path h="5007215" w="4495840">
                <a:moveTo>
                  <a:pt x="0" y="0"/>
                </a:moveTo>
                <a:lnTo>
                  <a:pt x="4495840" y="0"/>
                </a:lnTo>
                <a:lnTo>
                  <a:pt x="4495840" y="5007215"/>
                </a:lnTo>
                <a:lnTo>
                  <a:pt x="0" y="50072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29979" y="2848765"/>
            <a:ext cx="13981408" cy="991870"/>
          </a:xfrm>
          <a:prstGeom prst="rect">
            <a:avLst/>
          </a:prstGeom>
        </p:spPr>
        <p:txBody>
          <a:bodyPr anchor="t" rtlCol="false" tIns="0" lIns="0" bIns="0" rIns="0">
            <a:spAutoFit/>
          </a:bodyPr>
          <a:lstStyle/>
          <a:p>
            <a:pPr algn="l">
              <a:lnSpc>
                <a:spcPts val="7865"/>
              </a:lnSpc>
            </a:pPr>
            <a:r>
              <a:rPr lang="en-US" sz="6500">
                <a:solidFill>
                  <a:srgbClr val="000000"/>
                </a:solidFill>
                <a:latin typeface="DM Serif Display"/>
                <a:ea typeface="DM Serif Display"/>
                <a:cs typeface="DM Serif Display"/>
                <a:sym typeface="DM Serif Display"/>
              </a:rPr>
              <a:t>Predicting Emotions in Pictures</a:t>
            </a:r>
          </a:p>
        </p:txBody>
      </p:sp>
      <p:sp>
        <p:nvSpPr>
          <p:cNvPr name="TextBox 4" id="4"/>
          <p:cNvSpPr txBox="true"/>
          <p:nvPr/>
        </p:nvSpPr>
        <p:spPr>
          <a:xfrm rot="0">
            <a:off x="842411" y="4973405"/>
            <a:ext cx="5614464" cy="471804"/>
          </a:xfrm>
          <a:prstGeom prst="rect">
            <a:avLst/>
          </a:prstGeom>
        </p:spPr>
        <p:txBody>
          <a:bodyPr anchor="t" rtlCol="false" tIns="0" lIns="0" bIns="0" rIns="0">
            <a:spAutoFit/>
          </a:bodyPr>
          <a:lstStyle/>
          <a:p>
            <a:pPr algn="l">
              <a:lnSpc>
                <a:spcPts val="3920"/>
              </a:lnSpc>
              <a:spcBef>
                <a:spcPct val="0"/>
              </a:spcBef>
            </a:pPr>
            <a:r>
              <a:rPr lang="en-US" sz="2800">
                <a:solidFill>
                  <a:srgbClr val="000000"/>
                </a:solidFill>
                <a:latin typeface="DM Serif Display"/>
                <a:ea typeface="DM Serif Display"/>
                <a:cs typeface="DM Serif Display"/>
                <a:sym typeface="DM Serif Display"/>
              </a:rPr>
              <a:t>Gaia Negev and Tzlil Tabib</a:t>
            </a:r>
          </a:p>
        </p:txBody>
      </p:sp>
      <p:sp>
        <p:nvSpPr>
          <p:cNvPr name="AutoShape 5" id="5"/>
          <p:cNvSpPr/>
          <p:nvPr/>
        </p:nvSpPr>
        <p:spPr>
          <a:xfrm flipH="true">
            <a:off x="-1277598" y="2041617"/>
            <a:ext cx="14352198" cy="19045"/>
          </a:xfrm>
          <a:prstGeom prst="line">
            <a:avLst/>
          </a:prstGeom>
          <a:ln cap="flat" w="38100">
            <a:solidFill>
              <a:srgbClr val="000000"/>
            </a:solidFill>
            <a:prstDash val="solid"/>
            <a:headEnd type="none" len="sm" w="sm"/>
            <a:tailEnd type="none" len="sm" w="sm"/>
          </a:ln>
        </p:spPr>
      </p:sp>
      <p:sp>
        <p:nvSpPr>
          <p:cNvPr name="AutoShape 6" id="6"/>
          <p:cNvSpPr/>
          <p:nvPr/>
        </p:nvSpPr>
        <p:spPr>
          <a:xfrm flipH="true">
            <a:off x="-1277623" y="6644654"/>
            <a:ext cx="14352198" cy="19045"/>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842411" y="4324096"/>
            <a:ext cx="12083173" cy="537845"/>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DM Serif Display"/>
                <a:ea typeface="DM Serif Display"/>
                <a:cs typeface="DM Serif Display"/>
                <a:sym typeface="DM Serif Display"/>
              </a:rPr>
              <a:t>Introduction to Machine Learning for Neuroscience - Final Project</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grpSp>
        <p:nvGrpSpPr>
          <p:cNvPr name="Group 3" id="3"/>
          <p:cNvGrpSpPr/>
          <p:nvPr/>
        </p:nvGrpSpPr>
        <p:grpSpPr>
          <a:xfrm rot="0">
            <a:off x="1189324" y="3274664"/>
            <a:ext cx="549527" cy="549527"/>
            <a:chOff x="0" y="0"/>
            <a:chExt cx="732702" cy="732702"/>
          </a:xfrm>
        </p:grpSpPr>
        <p:grpSp>
          <p:nvGrpSpPr>
            <p:cNvPr name="Group 4" id="4"/>
            <p:cNvGrpSpPr/>
            <p:nvPr/>
          </p:nvGrpSpPr>
          <p:grpSpPr>
            <a:xfrm rot="0">
              <a:off x="0" y="0"/>
              <a:ext cx="732702" cy="73270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7" id="7"/>
            <p:cNvSpPr txBox="true"/>
            <p:nvPr/>
          </p:nvSpPr>
          <p:spPr>
            <a:xfrm rot="0">
              <a:off x="22077"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1</a:t>
              </a:r>
            </a:p>
          </p:txBody>
        </p:sp>
      </p:grpSp>
      <p:grpSp>
        <p:nvGrpSpPr>
          <p:cNvPr name="Group 8" id="8"/>
          <p:cNvGrpSpPr/>
          <p:nvPr/>
        </p:nvGrpSpPr>
        <p:grpSpPr>
          <a:xfrm rot="0">
            <a:off x="3597458" y="3274664"/>
            <a:ext cx="549527" cy="549527"/>
            <a:chOff x="0" y="0"/>
            <a:chExt cx="732702" cy="732702"/>
          </a:xfrm>
        </p:grpSpPr>
        <p:grpSp>
          <p:nvGrpSpPr>
            <p:cNvPr name="Group 9" id="9"/>
            <p:cNvGrpSpPr/>
            <p:nvPr/>
          </p:nvGrpSpPr>
          <p:grpSpPr>
            <a:xfrm rot="0">
              <a:off x="0" y="0"/>
              <a:ext cx="732702" cy="73270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12" id="12"/>
            <p:cNvSpPr txBox="true"/>
            <p:nvPr/>
          </p:nvSpPr>
          <p:spPr>
            <a:xfrm rot="0">
              <a:off x="29746"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2</a:t>
              </a:r>
            </a:p>
          </p:txBody>
        </p:sp>
      </p:grpSp>
      <p:sp>
        <p:nvSpPr>
          <p:cNvPr name="TextBox 13" id="13"/>
          <p:cNvSpPr txBox="true"/>
          <p:nvPr/>
        </p:nvSpPr>
        <p:spPr>
          <a:xfrm rot="0">
            <a:off x="1166399" y="1150096"/>
            <a:ext cx="13953866" cy="771524"/>
          </a:xfrm>
          <a:prstGeom prst="rect">
            <a:avLst/>
          </a:prstGeom>
        </p:spPr>
        <p:txBody>
          <a:bodyPr anchor="t" rtlCol="false" tIns="0" lIns="0" bIns="0" rIns="0">
            <a:spAutoFit/>
          </a:bodyPr>
          <a:lstStyle/>
          <a:p>
            <a:pPr algn="l" rtl="true">
              <a:lnSpc>
                <a:spcPts val="6300"/>
              </a:lnSpc>
            </a:pPr>
            <a:r>
              <a:rPr lang="en-US" sz="4500">
                <a:solidFill>
                  <a:srgbClr val="000000"/>
                </a:solidFill>
                <a:latin typeface="DM Serif Display"/>
                <a:ea typeface="DM Serif Display"/>
                <a:cs typeface="DM Serif Display"/>
                <a:sym typeface="DM Serif Display"/>
              </a:rPr>
              <a:t>Analysis Plan</a:t>
            </a:r>
          </a:p>
        </p:txBody>
      </p:sp>
      <p:grpSp>
        <p:nvGrpSpPr>
          <p:cNvPr name="Group 14" id="14"/>
          <p:cNvGrpSpPr/>
          <p:nvPr/>
        </p:nvGrpSpPr>
        <p:grpSpPr>
          <a:xfrm rot="0">
            <a:off x="432353" y="4050888"/>
            <a:ext cx="2063468" cy="889098"/>
            <a:chOff x="0" y="0"/>
            <a:chExt cx="2751290" cy="1185464"/>
          </a:xfrm>
        </p:grpSpPr>
        <p:grpSp>
          <p:nvGrpSpPr>
            <p:cNvPr name="Group 15" id="15"/>
            <p:cNvGrpSpPr/>
            <p:nvPr/>
          </p:nvGrpSpPr>
          <p:grpSpPr>
            <a:xfrm rot="0">
              <a:off x="0" y="0"/>
              <a:ext cx="2751290" cy="1185464"/>
              <a:chOff x="0" y="0"/>
              <a:chExt cx="543465" cy="234166"/>
            </a:xfrm>
          </p:grpSpPr>
          <p:sp>
            <p:nvSpPr>
              <p:cNvPr name="Freeform 16" id="16"/>
              <p:cNvSpPr/>
              <p:nvPr/>
            </p:nvSpPr>
            <p:spPr>
              <a:xfrm flipH="false" flipV="false" rot="0">
                <a:off x="0" y="0"/>
                <a:ext cx="543465" cy="234166"/>
              </a:xfrm>
              <a:custGeom>
                <a:avLst/>
                <a:gdLst/>
                <a:ahLst/>
                <a:cxnLst/>
                <a:rect r="r" b="b" t="t" l="l"/>
                <a:pathLst>
                  <a:path h="234166" w="543465">
                    <a:moveTo>
                      <a:pt x="117083" y="0"/>
                    </a:moveTo>
                    <a:lnTo>
                      <a:pt x="426382" y="0"/>
                    </a:lnTo>
                    <a:cubicBezTo>
                      <a:pt x="457434" y="0"/>
                      <a:pt x="487215" y="12335"/>
                      <a:pt x="509172" y="34293"/>
                    </a:cubicBezTo>
                    <a:cubicBezTo>
                      <a:pt x="531129" y="56250"/>
                      <a:pt x="543465" y="86031"/>
                      <a:pt x="543465" y="117083"/>
                    </a:cubicBezTo>
                    <a:lnTo>
                      <a:pt x="543465" y="117083"/>
                    </a:lnTo>
                    <a:cubicBezTo>
                      <a:pt x="543465" y="181746"/>
                      <a:pt x="491045" y="234166"/>
                      <a:pt x="426382" y="234166"/>
                    </a:cubicBezTo>
                    <a:lnTo>
                      <a:pt x="117083" y="234166"/>
                    </a:lnTo>
                    <a:cubicBezTo>
                      <a:pt x="52420" y="234166"/>
                      <a:pt x="0" y="181746"/>
                      <a:pt x="0" y="117083"/>
                    </a:cubicBezTo>
                    <a:lnTo>
                      <a:pt x="0" y="117083"/>
                    </a:lnTo>
                    <a:cubicBezTo>
                      <a:pt x="0" y="52420"/>
                      <a:pt x="52420" y="0"/>
                      <a:pt x="117083" y="0"/>
                    </a:cubicBezTo>
                    <a:close/>
                  </a:path>
                </a:pathLst>
              </a:custGeom>
              <a:solidFill>
                <a:srgbClr val="D9D9D9"/>
              </a:solidFill>
              <a:ln w="19050" cap="rnd">
                <a:solidFill>
                  <a:srgbClr val="000000"/>
                </a:solidFill>
                <a:prstDash val="solid"/>
                <a:round/>
              </a:ln>
            </p:spPr>
          </p:sp>
          <p:sp>
            <p:nvSpPr>
              <p:cNvPr name="TextBox 17" id="17"/>
              <p:cNvSpPr txBox="true"/>
              <p:nvPr/>
            </p:nvSpPr>
            <p:spPr>
              <a:xfrm>
                <a:off x="0" y="-66675"/>
                <a:ext cx="543465" cy="300841"/>
              </a:xfrm>
              <a:prstGeom prst="rect">
                <a:avLst/>
              </a:prstGeom>
            </p:spPr>
            <p:txBody>
              <a:bodyPr anchor="ctr" rtlCol="false" tIns="50800" lIns="50800" bIns="50800" rIns="50800"/>
              <a:lstStyle/>
              <a:p>
                <a:pPr algn="ctr">
                  <a:lnSpc>
                    <a:spcPts val="3091"/>
                  </a:lnSpc>
                </a:pPr>
              </a:p>
            </p:txBody>
          </p:sp>
        </p:grpSp>
        <p:sp>
          <p:nvSpPr>
            <p:cNvPr name="TextBox 18" id="18"/>
            <p:cNvSpPr txBox="true"/>
            <p:nvPr/>
          </p:nvSpPr>
          <p:spPr>
            <a:xfrm rot="0">
              <a:off x="340590" y="331154"/>
              <a:ext cx="2070111" cy="456481"/>
            </a:xfrm>
            <a:prstGeom prst="rect">
              <a:avLst/>
            </a:prstGeom>
          </p:spPr>
          <p:txBody>
            <a:bodyPr anchor="t" rtlCol="false" tIns="0" lIns="0" bIns="0" rIns="0">
              <a:spAutoFit/>
            </a:bodyPr>
            <a:lstStyle/>
            <a:p>
              <a:pPr algn="ctr">
                <a:lnSpc>
                  <a:spcPts val="3091"/>
                </a:lnSpc>
                <a:spcBef>
                  <a:spcPct val="0"/>
                </a:spcBef>
              </a:pPr>
              <a:r>
                <a:rPr lang="en-US" b="true" sz="1932">
                  <a:solidFill>
                    <a:srgbClr val="000000"/>
                  </a:solidFill>
                  <a:latin typeface="Open Sauce Bold"/>
                  <a:ea typeface="Open Sauce Bold"/>
                  <a:cs typeface="Open Sauce Bold"/>
                  <a:sym typeface="Open Sauce Bold"/>
                </a:rPr>
                <a:t>Split data</a:t>
              </a:r>
            </a:p>
          </p:txBody>
        </p:sp>
      </p:grpSp>
      <p:grpSp>
        <p:nvGrpSpPr>
          <p:cNvPr name="Group 19" id="19"/>
          <p:cNvGrpSpPr/>
          <p:nvPr/>
        </p:nvGrpSpPr>
        <p:grpSpPr>
          <a:xfrm rot="0">
            <a:off x="2840488" y="4050888"/>
            <a:ext cx="2063468" cy="889098"/>
            <a:chOff x="0" y="0"/>
            <a:chExt cx="2751290" cy="1185464"/>
          </a:xfrm>
        </p:grpSpPr>
        <p:grpSp>
          <p:nvGrpSpPr>
            <p:cNvPr name="Group 20" id="20"/>
            <p:cNvGrpSpPr/>
            <p:nvPr/>
          </p:nvGrpSpPr>
          <p:grpSpPr>
            <a:xfrm rot="0">
              <a:off x="0" y="0"/>
              <a:ext cx="2751290" cy="1185464"/>
              <a:chOff x="0" y="0"/>
              <a:chExt cx="543465" cy="234166"/>
            </a:xfrm>
          </p:grpSpPr>
          <p:sp>
            <p:nvSpPr>
              <p:cNvPr name="Freeform 21" id="21"/>
              <p:cNvSpPr/>
              <p:nvPr/>
            </p:nvSpPr>
            <p:spPr>
              <a:xfrm flipH="false" flipV="false" rot="0">
                <a:off x="0" y="0"/>
                <a:ext cx="543465" cy="234166"/>
              </a:xfrm>
              <a:custGeom>
                <a:avLst/>
                <a:gdLst/>
                <a:ahLst/>
                <a:cxnLst/>
                <a:rect r="r" b="b" t="t" l="l"/>
                <a:pathLst>
                  <a:path h="234166" w="543465">
                    <a:moveTo>
                      <a:pt x="117083" y="0"/>
                    </a:moveTo>
                    <a:lnTo>
                      <a:pt x="426382" y="0"/>
                    </a:lnTo>
                    <a:cubicBezTo>
                      <a:pt x="457434" y="0"/>
                      <a:pt x="487215" y="12335"/>
                      <a:pt x="509172" y="34293"/>
                    </a:cubicBezTo>
                    <a:cubicBezTo>
                      <a:pt x="531129" y="56250"/>
                      <a:pt x="543465" y="86031"/>
                      <a:pt x="543465" y="117083"/>
                    </a:cubicBezTo>
                    <a:lnTo>
                      <a:pt x="543465" y="117083"/>
                    </a:lnTo>
                    <a:cubicBezTo>
                      <a:pt x="543465" y="181746"/>
                      <a:pt x="491045" y="234166"/>
                      <a:pt x="426382" y="234166"/>
                    </a:cubicBezTo>
                    <a:lnTo>
                      <a:pt x="117083" y="234166"/>
                    </a:lnTo>
                    <a:cubicBezTo>
                      <a:pt x="52420" y="234166"/>
                      <a:pt x="0" y="181746"/>
                      <a:pt x="0" y="117083"/>
                    </a:cubicBezTo>
                    <a:lnTo>
                      <a:pt x="0" y="117083"/>
                    </a:lnTo>
                    <a:cubicBezTo>
                      <a:pt x="0" y="52420"/>
                      <a:pt x="52420" y="0"/>
                      <a:pt x="117083" y="0"/>
                    </a:cubicBezTo>
                    <a:close/>
                  </a:path>
                </a:pathLst>
              </a:custGeom>
              <a:solidFill>
                <a:srgbClr val="D9D9D9"/>
              </a:solidFill>
              <a:ln w="19050" cap="rnd">
                <a:solidFill>
                  <a:srgbClr val="000000"/>
                </a:solidFill>
                <a:prstDash val="solid"/>
                <a:round/>
              </a:ln>
            </p:spPr>
          </p:sp>
          <p:sp>
            <p:nvSpPr>
              <p:cNvPr name="TextBox 22" id="22"/>
              <p:cNvSpPr txBox="true"/>
              <p:nvPr/>
            </p:nvSpPr>
            <p:spPr>
              <a:xfrm>
                <a:off x="0" y="-66675"/>
                <a:ext cx="543465" cy="300841"/>
              </a:xfrm>
              <a:prstGeom prst="rect">
                <a:avLst/>
              </a:prstGeom>
            </p:spPr>
            <p:txBody>
              <a:bodyPr anchor="ctr" rtlCol="false" tIns="50800" lIns="50800" bIns="50800" rIns="50800"/>
              <a:lstStyle/>
              <a:p>
                <a:pPr algn="ctr">
                  <a:lnSpc>
                    <a:spcPts val="3091"/>
                  </a:lnSpc>
                </a:pPr>
              </a:p>
            </p:txBody>
          </p:sp>
        </p:grpSp>
        <p:sp>
          <p:nvSpPr>
            <p:cNvPr name="TextBox 23" id="23"/>
            <p:cNvSpPr txBox="true"/>
            <p:nvPr/>
          </p:nvSpPr>
          <p:spPr>
            <a:xfrm rot="0">
              <a:off x="340590" y="331154"/>
              <a:ext cx="2070111" cy="456481"/>
            </a:xfrm>
            <a:prstGeom prst="rect">
              <a:avLst/>
            </a:prstGeom>
          </p:spPr>
          <p:txBody>
            <a:bodyPr anchor="t" rtlCol="false" tIns="0" lIns="0" bIns="0" rIns="0">
              <a:spAutoFit/>
            </a:bodyPr>
            <a:lstStyle/>
            <a:p>
              <a:pPr algn="ctr">
                <a:lnSpc>
                  <a:spcPts val="3091"/>
                </a:lnSpc>
                <a:spcBef>
                  <a:spcPct val="0"/>
                </a:spcBef>
              </a:pPr>
              <a:r>
                <a:rPr lang="en-US" b="true" sz="1932">
                  <a:solidFill>
                    <a:srgbClr val="000000"/>
                  </a:solidFill>
                  <a:latin typeface="Open Sauce Bold"/>
                  <a:ea typeface="Open Sauce Bold"/>
                  <a:cs typeface="Open Sauce Bold"/>
                  <a:sym typeface="Open Sauce Bold"/>
                </a:rPr>
                <a:t>EDA</a:t>
              </a:r>
            </a:p>
          </p:txBody>
        </p:sp>
      </p:grpSp>
      <p:sp>
        <p:nvSpPr>
          <p:cNvPr name="TextBox 24" id="24"/>
          <p:cNvSpPr txBox="true"/>
          <p:nvPr/>
        </p:nvSpPr>
        <p:spPr>
          <a:xfrm rot="0">
            <a:off x="2840488" y="5101911"/>
            <a:ext cx="2122897" cy="1530604"/>
          </a:xfrm>
          <a:prstGeom prst="rect">
            <a:avLst/>
          </a:prstGeom>
        </p:spPr>
        <p:txBody>
          <a:bodyPr anchor="t" rtlCol="false" tIns="0" lIns="0" bIns="0" rIns="0">
            <a:spAutoFit/>
          </a:bodyPr>
          <a:lstStyle/>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Null analysis</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Variables distributions</a:t>
            </a:r>
          </a:p>
          <a:p>
            <a:pPr algn="l" marL="417226" indent="-208613" lvl="1">
              <a:lnSpc>
                <a:spcPts val="3091"/>
              </a:lnSpc>
              <a:spcBef>
                <a:spcPct val="0"/>
              </a:spcBef>
              <a:buFont typeface="Arial"/>
              <a:buChar char="•"/>
            </a:pPr>
            <a:r>
              <a:rPr lang="en-US" sz="1932">
                <a:solidFill>
                  <a:srgbClr val="000000"/>
                </a:solidFill>
                <a:latin typeface="Open Sauce"/>
                <a:ea typeface="Open Sauce"/>
                <a:cs typeface="Open Sauce"/>
                <a:sym typeface="Open Sauce"/>
              </a:rPr>
              <a:t>Clustering</a:t>
            </a:r>
          </a:p>
        </p:txBody>
      </p:sp>
      <p:grpSp>
        <p:nvGrpSpPr>
          <p:cNvPr name="Group 25" id="25"/>
          <p:cNvGrpSpPr/>
          <p:nvPr/>
        </p:nvGrpSpPr>
        <p:grpSpPr>
          <a:xfrm rot="0">
            <a:off x="6200486" y="3274664"/>
            <a:ext cx="549527" cy="549527"/>
            <a:chOff x="0" y="0"/>
            <a:chExt cx="732702" cy="732702"/>
          </a:xfrm>
        </p:grpSpPr>
        <p:grpSp>
          <p:nvGrpSpPr>
            <p:cNvPr name="Group 26" id="26"/>
            <p:cNvGrpSpPr/>
            <p:nvPr/>
          </p:nvGrpSpPr>
          <p:grpSpPr>
            <a:xfrm rot="0">
              <a:off x="0" y="0"/>
              <a:ext cx="732702" cy="73270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29" id="29"/>
            <p:cNvSpPr txBox="true"/>
            <p:nvPr/>
          </p:nvSpPr>
          <p:spPr>
            <a:xfrm rot="0">
              <a:off x="29746"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3</a:t>
              </a:r>
            </a:p>
          </p:txBody>
        </p:sp>
      </p:grpSp>
      <p:grpSp>
        <p:nvGrpSpPr>
          <p:cNvPr name="Group 30" id="30"/>
          <p:cNvGrpSpPr/>
          <p:nvPr/>
        </p:nvGrpSpPr>
        <p:grpSpPr>
          <a:xfrm rot="0">
            <a:off x="5246856" y="4050888"/>
            <a:ext cx="2456788" cy="889098"/>
            <a:chOff x="0" y="0"/>
            <a:chExt cx="3275717" cy="1185464"/>
          </a:xfrm>
        </p:grpSpPr>
        <p:grpSp>
          <p:nvGrpSpPr>
            <p:cNvPr name="Group 31" id="31"/>
            <p:cNvGrpSpPr/>
            <p:nvPr/>
          </p:nvGrpSpPr>
          <p:grpSpPr>
            <a:xfrm rot="0">
              <a:off x="0" y="0"/>
              <a:ext cx="3275717" cy="1185464"/>
              <a:chOff x="0" y="0"/>
              <a:chExt cx="647055" cy="234166"/>
            </a:xfrm>
          </p:grpSpPr>
          <p:sp>
            <p:nvSpPr>
              <p:cNvPr name="Freeform 32" id="32"/>
              <p:cNvSpPr/>
              <p:nvPr/>
            </p:nvSpPr>
            <p:spPr>
              <a:xfrm flipH="false" flipV="false" rot="0">
                <a:off x="0" y="0"/>
                <a:ext cx="647055" cy="234166"/>
              </a:xfrm>
              <a:custGeom>
                <a:avLst/>
                <a:gdLst/>
                <a:ahLst/>
                <a:cxnLst/>
                <a:rect r="r" b="b" t="t" l="l"/>
                <a:pathLst>
                  <a:path h="234166" w="647055">
                    <a:moveTo>
                      <a:pt x="117083" y="0"/>
                    </a:moveTo>
                    <a:lnTo>
                      <a:pt x="529972" y="0"/>
                    </a:lnTo>
                    <a:cubicBezTo>
                      <a:pt x="561025" y="0"/>
                      <a:pt x="590805" y="12335"/>
                      <a:pt x="612763" y="34293"/>
                    </a:cubicBezTo>
                    <a:cubicBezTo>
                      <a:pt x="634720" y="56250"/>
                      <a:pt x="647055" y="86031"/>
                      <a:pt x="647055" y="117083"/>
                    </a:cubicBezTo>
                    <a:lnTo>
                      <a:pt x="647055" y="117083"/>
                    </a:lnTo>
                    <a:cubicBezTo>
                      <a:pt x="647055" y="181746"/>
                      <a:pt x="594636" y="234166"/>
                      <a:pt x="529972" y="234166"/>
                    </a:cubicBezTo>
                    <a:lnTo>
                      <a:pt x="117083" y="234166"/>
                    </a:lnTo>
                    <a:cubicBezTo>
                      <a:pt x="52420" y="234166"/>
                      <a:pt x="0" y="181746"/>
                      <a:pt x="0" y="117083"/>
                    </a:cubicBezTo>
                    <a:lnTo>
                      <a:pt x="0" y="117083"/>
                    </a:lnTo>
                    <a:cubicBezTo>
                      <a:pt x="0" y="52420"/>
                      <a:pt x="52420" y="0"/>
                      <a:pt x="117083" y="0"/>
                    </a:cubicBezTo>
                    <a:close/>
                  </a:path>
                </a:pathLst>
              </a:custGeom>
              <a:solidFill>
                <a:srgbClr val="D9D9D9"/>
              </a:solidFill>
              <a:ln w="19050" cap="rnd">
                <a:solidFill>
                  <a:srgbClr val="000000"/>
                </a:solidFill>
                <a:prstDash val="solid"/>
                <a:round/>
              </a:ln>
            </p:spPr>
          </p:sp>
          <p:sp>
            <p:nvSpPr>
              <p:cNvPr name="TextBox 33" id="33"/>
              <p:cNvSpPr txBox="true"/>
              <p:nvPr/>
            </p:nvSpPr>
            <p:spPr>
              <a:xfrm>
                <a:off x="0" y="-66675"/>
                <a:ext cx="647055" cy="300841"/>
              </a:xfrm>
              <a:prstGeom prst="rect">
                <a:avLst/>
              </a:prstGeom>
            </p:spPr>
            <p:txBody>
              <a:bodyPr anchor="ctr" rtlCol="false" tIns="50800" lIns="50800" bIns="50800" rIns="50800"/>
              <a:lstStyle/>
              <a:p>
                <a:pPr algn="ctr">
                  <a:lnSpc>
                    <a:spcPts val="3091"/>
                  </a:lnSpc>
                </a:pPr>
              </a:p>
            </p:txBody>
          </p:sp>
        </p:grpSp>
        <p:sp>
          <p:nvSpPr>
            <p:cNvPr name="TextBox 34" id="34"/>
            <p:cNvSpPr txBox="true"/>
            <p:nvPr/>
          </p:nvSpPr>
          <p:spPr>
            <a:xfrm rot="0">
              <a:off x="405510" y="331154"/>
              <a:ext cx="2464697" cy="456481"/>
            </a:xfrm>
            <a:prstGeom prst="rect">
              <a:avLst/>
            </a:prstGeom>
          </p:spPr>
          <p:txBody>
            <a:bodyPr anchor="t" rtlCol="false" tIns="0" lIns="0" bIns="0" rIns="0">
              <a:spAutoFit/>
            </a:bodyPr>
            <a:lstStyle/>
            <a:p>
              <a:pPr algn="ctr">
                <a:lnSpc>
                  <a:spcPts val="3091"/>
                </a:lnSpc>
                <a:spcBef>
                  <a:spcPct val="0"/>
                </a:spcBef>
              </a:pPr>
              <a:r>
                <a:rPr lang="en-US" b="true" sz="1932">
                  <a:solidFill>
                    <a:srgbClr val="000000"/>
                  </a:solidFill>
                  <a:latin typeface="Open Sauce Bold"/>
                  <a:ea typeface="Open Sauce Bold"/>
                  <a:cs typeface="Open Sauce Bold"/>
                  <a:sym typeface="Open Sauce Bold"/>
                </a:rPr>
                <a:t>Preprocessing</a:t>
              </a:r>
            </a:p>
          </p:txBody>
        </p:sp>
      </p:grpSp>
      <p:sp>
        <p:nvSpPr>
          <p:cNvPr name="TextBox 35" id="35"/>
          <p:cNvSpPr txBox="true"/>
          <p:nvPr/>
        </p:nvSpPr>
        <p:spPr>
          <a:xfrm rot="0">
            <a:off x="5312840" y="5101911"/>
            <a:ext cx="3027533" cy="1921129"/>
          </a:xfrm>
          <a:prstGeom prst="rect">
            <a:avLst/>
          </a:prstGeom>
        </p:spPr>
        <p:txBody>
          <a:bodyPr anchor="t" rtlCol="false" tIns="0" lIns="0" bIns="0" rIns="0">
            <a:spAutoFit/>
          </a:bodyPr>
          <a:lstStyle/>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TF-IDF</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Label encoder</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Filling missing values</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Standartizing</a:t>
            </a:r>
          </a:p>
          <a:p>
            <a:pPr algn="l" marL="417226" indent="-208613" lvl="1">
              <a:lnSpc>
                <a:spcPts val="3091"/>
              </a:lnSpc>
              <a:spcBef>
                <a:spcPct val="0"/>
              </a:spcBef>
              <a:buFont typeface="Arial"/>
              <a:buChar char="•"/>
            </a:pPr>
            <a:r>
              <a:rPr lang="en-US" sz="1932">
                <a:solidFill>
                  <a:srgbClr val="000000"/>
                </a:solidFill>
                <a:latin typeface="Open Sauce"/>
                <a:ea typeface="Open Sauce"/>
                <a:cs typeface="Open Sauce"/>
                <a:sym typeface="Open Sauce"/>
              </a:rPr>
              <a:t>PCA</a:t>
            </a:r>
          </a:p>
        </p:txBody>
      </p:sp>
      <p:sp>
        <p:nvSpPr>
          <p:cNvPr name="TextBox 36" id="36"/>
          <p:cNvSpPr txBox="true"/>
          <p:nvPr/>
        </p:nvSpPr>
        <p:spPr>
          <a:xfrm rot="0">
            <a:off x="808536" y="5101911"/>
            <a:ext cx="1311101" cy="749554"/>
          </a:xfrm>
          <a:prstGeom prst="rect">
            <a:avLst/>
          </a:prstGeom>
        </p:spPr>
        <p:txBody>
          <a:bodyPr anchor="t" rtlCol="false" tIns="0" lIns="0" bIns="0" rIns="0">
            <a:spAutoFit/>
          </a:bodyPr>
          <a:lstStyle/>
          <a:p>
            <a:pPr algn="ctr">
              <a:lnSpc>
                <a:spcPts val="3091"/>
              </a:lnSpc>
              <a:spcBef>
                <a:spcPct val="0"/>
              </a:spcBef>
            </a:pPr>
            <a:r>
              <a:rPr lang="en-US" sz="1932">
                <a:solidFill>
                  <a:srgbClr val="000000"/>
                </a:solidFill>
                <a:latin typeface="Open Sauce"/>
                <a:ea typeface="Open Sauce"/>
                <a:cs typeface="Open Sauce"/>
                <a:sym typeface="Open Sauce"/>
              </a:rPr>
              <a:t>Train - test </a:t>
            </a:r>
          </a:p>
          <a:p>
            <a:pPr algn="ctr">
              <a:lnSpc>
                <a:spcPts val="3091"/>
              </a:lnSpc>
              <a:spcBef>
                <a:spcPct val="0"/>
              </a:spcBef>
            </a:pPr>
            <a:r>
              <a:rPr lang="en-US" sz="1932">
                <a:solidFill>
                  <a:srgbClr val="000000"/>
                </a:solidFill>
                <a:latin typeface="Open Sauce"/>
                <a:ea typeface="Open Sauce"/>
                <a:cs typeface="Open Sauce"/>
                <a:sym typeface="Open Sauce"/>
              </a:rPr>
              <a:t>(80-20)</a:t>
            </a:r>
          </a:p>
        </p:txBody>
      </p:sp>
      <p:grpSp>
        <p:nvGrpSpPr>
          <p:cNvPr name="Group 37" id="37"/>
          <p:cNvGrpSpPr/>
          <p:nvPr/>
        </p:nvGrpSpPr>
        <p:grpSpPr>
          <a:xfrm rot="0">
            <a:off x="9394965" y="3274664"/>
            <a:ext cx="549527" cy="549527"/>
            <a:chOff x="0" y="0"/>
            <a:chExt cx="732702" cy="732702"/>
          </a:xfrm>
        </p:grpSpPr>
        <p:grpSp>
          <p:nvGrpSpPr>
            <p:cNvPr name="Group 38" id="38"/>
            <p:cNvGrpSpPr/>
            <p:nvPr/>
          </p:nvGrpSpPr>
          <p:grpSpPr>
            <a:xfrm rot="0">
              <a:off x="0" y="0"/>
              <a:ext cx="732702" cy="732702"/>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40" id="40"/>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41" id="41"/>
            <p:cNvSpPr txBox="true"/>
            <p:nvPr/>
          </p:nvSpPr>
          <p:spPr>
            <a:xfrm rot="0">
              <a:off x="29746"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4</a:t>
              </a:r>
            </a:p>
          </p:txBody>
        </p:sp>
      </p:grpSp>
      <p:grpSp>
        <p:nvGrpSpPr>
          <p:cNvPr name="Group 42" id="42"/>
          <p:cNvGrpSpPr/>
          <p:nvPr/>
        </p:nvGrpSpPr>
        <p:grpSpPr>
          <a:xfrm rot="0">
            <a:off x="8441334" y="4050888"/>
            <a:ext cx="2456788" cy="889098"/>
            <a:chOff x="0" y="0"/>
            <a:chExt cx="3275717" cy="1185464"/>
          </a:xfrm>
        </p:grpSpPr>
        <p:grpSp>
          <p:nvGrpSpPr>
            <p:cNvPr name="Group 43" id="43"/>
            <p:cNvGrpSpPr/>
            <p:nvPr/>
          </p:nvGrpSpPr>
          <p:grpSpPr>
            <a:xfrm rot="0">
              <a:off x="0" y="0"/>
              <a:ext cx="3275717" cy="1185464"/>
              <a:chOff x="0" y="0"/>
              <a:chExt cx="647055" cy="234166"/>
            </a:xfrm>
          </p:grpSpPr>
          <p:sp>
            <p:nvSpPr>
              <p:cNvPr name="Freeform 44" id="44"/>
              <p:cNvSpPr/>
              <p:nvPr/>
            </p:nvSpPr>
            <p:spPr>
              <a:xfrm flipH="false" flipV="false" rot="0">
                <a:off x="0" y="0"/>
                <a:ext cx="647055" cy="234166"/>
              </a:xfrm>
              <a:custGeom>
                <a:avLst/>
                <a:gdLst/>
                <a:ahLst/>
                <a:cxnLst/>
                <a:rect r="r" b="b" t="t" l="l"/>
                <a:pathLst>
                  <a:path h="234166" w="647055">
                    <a:moveTo>
                      <a:pt x="117083" y="0"/>
                    </a:moveTo>
                    <a:lnTo>
                      <a:pt x="529972" y="0"/>
                    </a:lnTo>
                    <a:cubicBezTo>
                      <a:pt x="561025" y="0"/>
                      <a:pt x="590805" y="12335"/>
                      <a:pt x="612763" y="34293"/>
                    </a:cubicBezTo>
                    <a:cubicBezTo>
                      <a:pt x="634720" y="56250"/>
                      <a:pt x="647055" y="86031"/>
                      <a:pt x="647055" y="117083"/>
                    </a:cubicBezTo>
                    <a:lnTo>
                      <a:pt x="647055" y="117083"/>
                    </a:lnTo>
                    <a:cubicBezTo>
                      <a:pt x="647055" y="181746"/>
                      <a:pt x="594636" y="234166"/>
                      <a:pt x="529972" y="234166"/>
                    </a:cubicBezTo>
                    <a:lnTo>
                      <a:pt x="117083" y="234166"/>
                    </a:lnTo>
                    <a:cubicBezTo>
                      <a:pt x="52420" y="234166"/>
                      <a:pt x="0" y="181746"/>
                      <a:pt x="0" y="117083"/>
                    </a:cubicBezTo>
                    <a:lnTo>
                      <a:pt x="0" y="117083"/>
                    </a:lnTo>
                    <a:cubicBezTo>
                      <a:pt x="0" y="52420"/>
                      <a:pt x="52420" y="0"/>
                      <a:pt x="117083" y="0"/>
                    </a:cubicBezTo>
                    <a:close/>
                  </a:path>
                </a:pathLst>
              </a:custGeom>
              <a:solidFill>
                <a:srgbClr val="D9D9D9"/>
              </a:solidFill>
              <a:ln w="19050" cap="rnd">
                <a:solidFill>
                  <a:srgbClr val="000000"/>
                </a:solidFill>
                <a:prstDash val="solid"/>
                <a:round/>
              </a:ln>
            </p:spPr>
          </p:sp>
          <p:sp>
            <p:nvSpPr>
              <p:cNvPr name="TextBox 45" id="45"/>
              <p:cNvSpPr txBox="true"/>
              <p:nvPr/>
            </p:nvSpPr>
            <p:spPr>
              <a:xfrm>
                <a:off x="0" y="-66675"/>
                <a:ext cx="647055" cy="300841"/>
              </a:xfrm>
              <a:prstGeom prst="rect">
                <a:avLst/>
              </a:prstGeom>
            </p:spPr>
            <p:txBody>
              <a:bodyPr anchor="ctr" rtlCol="false" tIns="50800" lIns="50800" bIns="50800" rIns="50800"/>
              <a:lstStyle/>
              <a:p>
                <a:pPr algn="ctr">
                  <a:lnSpc>
                    <a:spcPts val="3091"/>
                  </a:lnSpc>
                </a:pPr>
              </a:p>
            </p:txBody>
          </p:sp>
        </p:grpSp>
        <p:sp>
          <p:nvSpPr>
            <p:cNvPr name="TextBox 46" id="46"/>
            <p:cNvSpPr txBox="true"/>
            <p:nvPr/>
          </p:nvSpPr>
          <p:spPr>
            <a:xfrm rot="0">
              <a:off x="405510" y="331154"/>
              <a:ext cx="2464697" cy="456481"/>
            </a:xfrm>
            <a:prstGeom prst="rect">
              <a:avLst/>
            </a:prstGeom>
          </p:spPr>
          <p:txBody>
            <a:bodyPr anchor="t" rtlCol="false" tIns="0" lIns="0" bIns="0" rIns="0">
              <a:spAutoFit/>
            </a:bodyPr>
            <a:lstStyle/>
            <a:p>
              <a:pPr algn="ctr">
                <a:lnSpc>
                  <a:spcPts val="3091"/>
                </a:lnSpc>
                <a:spcBef>
                  <a:spcPct val="0"/>
                </a:spcBef>
              </a:pPr>
              <a:r>
                <a:rPr lang="en-US" b="true" sz="1932">
                  <a:solidFill>
                    <a:srgbClr val="000000"/>
                  </a:solidFill>
                  <a:latin typeface="Open Sauce Bold"/>
                  <a:ea typeface="Open Sauce Bold"/>
                  <a:cs typeface="Open Sauce Bold"/>
                  <a:sym typeface="Open Sauce Bold"/>
                </a:rPr>
                <a:t>Model fitting</a:t>
              </a:r>
            </a:p>
          </p:txBody>
        </p:sp>
      </p:grpSp>
      <p:sp>
        <p:nvSpPr>
          <p:cNvPr name="TextBox 47" id="47"/>
          <p:cNvSpPr txBox="true"/>
          <p:nvPr/>
        </p:nvSpPr>
        <p:spPr>
          <a:xfrm rot="0">
            <a:off x="8510124" y="5101911"/>
            <a:ext cx="3027533" cy="1530604"/>
          </a:xfrm>
          <a:prstGeom prst="rect">
            <a:avLst/>
          </a:prstGeom>
        </p:spPr>
        <p:txBody>
          <a:bodyPr anchor="t" rtlCol="false" tIns="0" lIns="0" bIns="0" rIns="0">
            <a:spAutoFit/>
          </a:bodyPr>
          <a:lstStyle/>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Tabular model</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Embedded model</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Features selection</a:t>
            </a:r>
          </a:p>
          <a:p>
            <a:pPr algn="l" marL="417226" indent="-208613" lvl="1">
              <a:lnSpc>
                <a:spcPts val="3091"/>
              </a:lnSpc>
              <a:spcBef>
                <a:spcPct val="0"/>
              </a:spcBef>
              <a:buFont typeface="Arial"/>
              <a:buChar char="•"/>
            </a:pPr>
            <a:r>
              <a:rPr lang="en-US" sz="1932">
                <a:solidFill>
                  <a:srgbClr val="000000"/>
                </a:solidFill>
                <a:latin typeface="Open Sauce"/>
                <a:ea typeface="Open Sauce"/>
                <a:cs typeface="Open Sauce"/>
                <a:sym typeface="Open Sauce"/>
              </a:rPr>
              <a:t>Models selection</a:t>
            </a:r>
          </a:p>
        </p:txBody>
      </p:sp>
      <p:sp>
        <p:nvSpPr>
          <p:cNvPr name="TextBox 48" id="48"/>
          <p:cNvSpPr txBox="true"/>
          <p:nvPr/>
        </p:nvSpPr>
        <p:spPr>
          <a:xfrm rot="0">
            <a:off x="5413801" y="7396550"/>
            <a:ext cx="3027533" cy="359029"/>
          </a:xfrm>
          <a:prstGeom prst="rect">
            <a:avLst/>
          </a:prstGeom>
        </p:spPr>
        <p:txBody>
          <a:bodyPr anchor="t" rtlCol="false" tIns="0" lIns="0" bIns="0" rIns="0">
            <a:spAutoFit/>
          </a:bodyPr>
          <a:lstStyle/>
          <a:p>
            <a:pPr algn="ctr">
              <a:lnSpc>
                <a:spcPts val="3091"/>
              </a:lnSpc>
            </a:pPr>
            <a:r>
              <a:rPr lang="en-US" sz="1932">
                <a:solidFill>
                  <a:srgbClr val="000000"/>
                </a:solidFill>
                <a:latin typeface="Open Sauce"/>
                <a:ea typeface="Open Sauce"/>
                <a:cs typeface="Open Sauce"/>
                <a:sym typeface="Open Sauce"/>
              </a:rPr>
              <a:t>Training set</a:t>
            </a:r>
          </a:p>
        </p:txBody>
      </p:sp>
      <p:grpSp>
        <p:nvGrpSpPr>
          <p:cNvPr name="Group 49" id="49"/>
          <p:cNvGrpSpPr/>
          <p:nvPr/>
        </p:nvGrpSpPr>
        <p:grpSpPr>
          <a:xfrm rot="0">
            <a:off x="2828290" y="6832540"/>
            <a:ext cx="8393032" cy="478286"/>
            <a:chOff x="0" y="0"/>
            <a:chExt cx="11190710" cy="637714"/>
          </a:xfrm>
        </p:grpSpPr>
        <p:sp>
          <p:nvSpPr>
            <p:cNvPr name="AutoShape 50" id="50"/>
            <p:cNvSpPr/>
            <p:nvPr/>
          </p:nvSpPr>
          <p:spPr>
            <a:xfrm>
              <a:off x="16264" y="625014"/>
              <a:ext cx="11141918" cy="0"/>
            </a:xfrm>
            <a:prstGeom prst="line">
              <a:avLst/>
            </a:prstGeom>
            <a:ln cap="flat" w="25400">
              <a:solidFill>
                <a:srgbClr val="000000"/>
              </a:solidFill>
              <a:prstDash val="solid"/>
              <a:headEnd type="none" len="sm" w="sm"/>
              <a:tailEnd type="none" len="sm" w="sm"/>
            </a:ln>
          </p:spPr>
        </p:sp>
        <p:sp>
          <p:nvSpPr>
            <p:cNvPr name="AutoShape 51" id="51"/>
            <p:cNvSpPr/>
            <p:nvPr/>
          </p:nvSpPr>
          <p:spPr>
            <a:xfrm flipH="true">
              <a:off x="12699" y="142"/>
              <a:ext cx="7129" cy="637288"/>
            </a:xfrm>
            <a:prstGeom prst="line">
              <a:avLst/>
            </a:prstGeom>
            <a:ln cap="flat" w="25400">
              <a:solidFill>
                <a:srgbClr val="000000"/>
              </a:solidFill>
              <a:prstDash val="solid"/>
              <a:headEnd type="none" len="sm" w="sm"/>
              <a:tailEnd type="none" len="sm" w="sm"/>
            </a:ln>
          </p:spPr>
        </p:sp>
        <p:sp>
          <p:nvSpPr>
            <p:cNvPr name="AutoShape 52" id="52"/>
            <p:cNvSpPr/>
            <p:nvPr/>
          </p:nvSpPr>
          <p:spPr>
            <a:xfrm flipH="true">
              <a:off x="11170881" y="284"/>
              <a:ext cx="7129" cy="637288"/>
            </a:xfrm>
            <a:prstGeom prst="line">
              <a:avLst/>
            </a:prstGeom>
            <a:ln cap="flat" w="25400">
              <a:solidFill>
                <a:srgbClr val="000000"/>
              </a:solidFill>
              <a:prstDash val="solid"/>
              <a:headEnd type="none" len="sm" w="sm"/>
              <a:tailEnd type="none" len="sm" w="sm"/>
            </a:ln>
          </p:spPr>
        </p:sp>
      </p:grpSp>
      <p:grpSp>
        <p:nvGrpSpPr>
          <p:cNvPr name="Group 53" id="53"/>
          <p:cNvGrpSpPr/>
          <p:nvPr/>
        </p:nvGrpSpPr>
        <p:grpSpPr>
          <a:xfrm rot="0">
            <a:off x="12556263" y="3274664"/>
            <a:ext cx="549527" cy="549527"/>
            <a:chOff x="0" y="0"/>
            <a:chExt cx="732702" cy="732702"/>
          </a:xfrm>
        </p:grpSpPr>
        <p:grpSp>
          <p:nvGrpSpPr>
            <p:cNvPr name="Group 54" id="54"/>
            <p:cNvGrpSpPr/>
            <p:nvPr/>
          </p:nvGrpSpPr>
          <p:grpSpPr>
            <a:xfrm rot="0">
              <a:off x="0" y="0"/>
              <a:ext cx="732702" cy="732702"/>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56" id="56"/>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57" id="57"/>
            <p:cNvSpPr txBox="true"/>
            <p:nvPr/>
          </p:nvSpPr>
          <p:spPr>
            <a:xfrm rot="0">
              <a:off x="29746"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5</a:t>
              </a:r>
            </a:p>
          </p:txBody>
        </p:sp>
      </p:grpSp>
      <p:grpSp>
        <p:nvGrpSpPr>
          <p:cNvPr name="Group 58" id="58"/>
          <p:cNvGrpSpPr/>
          <p:nvPr/>
        </p:nvGrpSpPr>
        <p:grpSpPr>
          <a:xfrm rot="0">
            <a:off x="11602633" y="4050888"/>
            <a:ext cx="2456788" cy="889098"/>
            <a:chOff x="0" y="0"/>
            <a:chExt cx="3275717" cy="1185464"/>
          </a:xfrm>
        </p:grpSpPr>
        <p:grpSp>
          <p:nvGrpSpPr>
            <p:cNvPr name="Group 59" id="59"/>
            <p:cNvGrpSpPr/>
            <p:nvPr/>
          </p:nvGrpSpPr>
          <p:grpSpPr>
            <a:xfrm rot="0">
              <a:off x="0" y="0"/>
              <a:ext cx="3275717" cy="1185464"/>
              <a:chOff x="0" y="0"/>
              <a:chExt cx="647055" cy="234166"/>
            </a:xfrm>
          </p:grpSpPr>
          <p:sp>
            <p:nvSpPr>
              <p:cNvPr name="Freeform 60" id="60"/>
              <p:cNvSpPr/>
              <p:nvPr/>
            </p:nvSpPr>
            <p:spPr>
              <a:xfrm flipH="false" flipV="false" rot="0">
                <a:off x="0" y="0"/>
                <a:ext cx="647055" cy="234166"/>
              </a:xfrm>
              <a:custGeom>
                <a:avLst/>
                <a:gdLst/>
                <a:ahLst/>
                <a:cxnLst/>
                <a:rect r="r" b="b" t="t" l="l"/>
                <a:pathLst>
                  <a:path h="234166" w="647055">
                    <a:moveTo>
                      <a:pt x="117083" y="0"/>
                    </a:moveTo>
                    <a:lnTo>
                      <a:pt x="529972" y="0"/>
                    </a:lnTo>
                    <a:cubicBezTo>
                      <a:pt x="561025" y="0"/>
                      <a:pt x="590805" y="12335"/>
                      <a:pt x="612763" y="34293"/>
                    </a:cubicBezTo>
                    <a:cubicBezTo>
                      <a:pt x="634720" y="56250"/>
                      <a:pt x="647055" y="86031"/>
                      <a:pt x="647055" y="117083"/>
                    </a:cubicBezTo>
                    <a:lnTo>
                      <a:pt x="647055" y="117083"/>
                    </a:lnTo>
                    <a:cubicBezTo>
                      <a:pt x="647055" y="181746"/>
                      <a:pt x="594636" y="234166"/>
                      <a:pt x="529972" y="234166"/>
                    </a:cubicBezTo>
                    <a:lnTo>
                      <a:pt x="117083" y="234166"/>
                    </a:lnTo>
                    <a:cubicBezTo>
                      <a:pt x="52420" y="234166"/>
                      <a:pt x="0" y="181746"/>
                      <a:pt x="0" y="117083"/>
                    </a:cubicBezTo>
                    <a:lnTo>
                      <a:pt x="0" y="117083"/>
                    </a:lnTo>
                    <a:cubicBezTo>
                      <a:pt x="0" y="52420"/>
                      <a:pt x="52420" y="0"/>
                      <a:pt x="117083" y="0"/>
                    </a:cubicBezTo>
                    <a:close/>
                  </a:path>
                </a:pathLst>
              </a:custGeom>
              <a:solidFill>
                <a:srgbClr val="D9D9D9"/>
              </a:solidFill>
              <a:ln w="19050" cap="rnd">
                <a:solidFill>
                  <a:srgbClr val="000000"/>
                </a:solidFill>
                <a:prstDash val="solid"/>
                <a:round/>
              </a:ln>
            </p:spPr>
          </p:sp>
          <p:sp>
            <p:nvSpPr>
              <p:cNvPr name="TextBox 61" id="61"/>
              <p:cNvSpPr txBox="true"/>
              <p:nvPr/>
            </p:nvSpPr>
            <p:spPr>
              <a:xfrm>
                <a:off x="0" y="-66675"/>
                <a:ext cx="647055" cy="300841"/>
              </a:xfrm>
              <a:prstGeom prst="rect">
                <a:avLst/>
              </a:prstGeom>
            </p:spPr>
            <p:txBody>
              <a:bodyPr anchor="ctr" rtlCol="false" tIns="50800" lIns="50800" bIns="50800" rIns="50800"/>
              <a:lstStyle/>
              <a:p>
                <a:pPr algn="ctr">
                  <a:lnSpc>
                    <a:spcPts val="3091"/>
                  </a:lnSpc>
                </a:pPr>
              </a:p>
            </p:txBody>
          </p:sp>
        </p:grpSp>
        <p:sp>
          <p:nvSpPr>
            <p:cNvPr name="TextBox 62" id="62"/>
            <p:cNvSpPr txBox="true"/>
            <p:nvPr/>
          </p:nvSpPr>
          <p:spPr>
            <a:xfrm rot="0">
              <a:off x="405510" y="331154"/>
              <a:ext cx="2464697" cy="456481"/>
            </a:xfrm>
            <a:prstGeom prst="rect">
              <a:avLst/>
            </a:prstGeom>
          </p:spPr>
          <p:txBody>
            <a:bodyPr anchor="t" rtlCol="false" tIns="0" lIns="0" bIns="0" rIns="0">
              <a:spAutoFit/>
            </a:bodyPr>
            <a:lstStyle/>
            <a:p>
              <a:pPr algn="ctr">
                <a:lnSpc>
                  <a:spcPts val="3091"/>
                </a:lnSpc>
                <a:spcBef>
                  <a:spcPct val="0"/>
                </a:spcBef>
              </a:pPr>
              <a:r>
                <a:rPr lang="en-US" b="true" sz="1932">
                  <a:solidFill>
                    <a:srgbClr val="000000"/>
                  </a:solidFill>
                  <a:latin typeface="Open Sauce Bold"/>
                  <a:ea typeface="Open Sauce Bold"/>
                  <a:cs typeface="Open Sauce Bold"/>
                  <a:sym typeface="Open Sauce Bold"/>
                </a:rPr>
                <a:t>Preprocessing</a:t>
              </a:r>
            </a:p>
          </p:txBody>
        </p:sp>
      </p:grpSp>
      <p:sp>
        <p:nvSpPr>
          <p:cNvPr name="TextBox 63" id="63"/>
          <p:cNvSpPr txBox="true"/>
          <p:nvPr/>
        </p:nvSpPr>
        <p:spPr>
          <a:xfrm rot="0">
            <a:off x="11688358" y="5101911"/>
            <a:ext cx="3027533" cy="1921129"/>
          </a:xfrm>
          <a:prstGeom prst="rect">
            <a:avLst/>
          </a:prstGeom>
        </p:spPr>
        <p:txBody>
          <a:bodyPr anchor="t" rtlCol="false" tIns="0" lIns="0" bIns="0" rIns="0">
            <a:spAutoFit/>
          </a:bodyPr>
          <a:lstStyle/>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TF-IDF</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Label encoder</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Filling missing values</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Standartizing</a:t>
            </a:r>
          </a:p>
          <a:p>
            <a:pPr algn="l" marL="417226" indent="-208613" lvl="1">
              <a:lnSpc>
                <a:spcPts val="3091"/>
              </a:lnSpc>
              <a:spcBef>
                <a:spcPct val="0"/>
              </a:spcBef>
              <a:buFont typeface="Arial"/>
              <a:buChar char="•"/>
            </a:pPr>
            <a:r>
              <a:rPr lang="en-US" sz="1932">
                <a:solidFill>
                  <a:srgbClr val="000000"/>
                </a:solidFill>
                <a:latin typeface="Open Sauce"/>
                <a:ea typeface="Open Sauce"/>
                <a:cs typeface="Open Sauce"/>
                <a:sym typeface="Open Sauce"/>
              </a:rPr>
              <a:t>PCA</a:t>
            </a:r>
          </a:p>
        </p:txBody>
      </p:sp>
      <p:grpSp>
        <p:nvGrpSpPr>
          <p:cNvPr name="Group 64" id="64"/>
          <p:cNvGrpSpPr/>
          <p:nvPr/>
        </p:nvGrpSpPr>
        <p:grpSpPr>
          <a:xfrm rot="0">
            <a:off x="15848069" y="3274664"/>
            <a:ext cx="549527" cy="549527"/>
            <a:chOff x="0" y="0"/>
            <a:chExt cx="732702" cy="732702"/>
          </a:xfrm>
        </p:grpSpPr>
        <p:grpSp>
          <p:nvGrpSpPr>
            <p:cNvPr name="Group 65" id="65"/>
            <p:cNvGrpSpPr/>
            <p:nvPr/>
          </p:nvGrpSpPr>
          <p:grpSpPr>
            <a:xfrm rot="0">
              <a:off x="0" y="0"/>
              <a:ext cx="732702" cy="732702"/>
              <a:chOff x="0" y="0"/>
              <a:chExt cx="812800" cy="812800"/>
            </a:xfrm>
          </p:grpSpPr>
          <p:sp>
            <p:nvSpPr>
              <p:cNvPr name="Freeform 66" id="6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67" id="67"/>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68" id="68"/>
            <p:cNvSpPr txBox="true"/>
            <p:nvPr/>
          </p:nvSpPr>
          <p:spPr>
            <a:xfrm rot="0">
              <a:off x="29746"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6</a:t>
              </a:r>
            </a:p>
          </p:txBody>
        </p:sp>
      </p:grpSp>
      <p:grpSp>
        <p:nvGrpSpPr>
          <p:cNvPr name="Group 69" id="69"/>
          <p:cNvGrpSpPr/>
          <p:nvPr/>
        </p:nvGrpSpPr>
        <p:grpSpPr>
          <a:xfrm rot="0">
            <a:off x="14894439" y="3994451"/>
            <a:ext cx="2456788" cy="889098"/>
            <a:chOff x="0" y="0"/>
            <a:chExt cx="3275717" cy="1185464"/>
          </a:xfrm>
        </p:grpSpPr>
        <p:grpSp>
          <p:nvGrpSpPr>
            <p:cNvPr name="Group 70" id="70"/>
            <p:cNvGrpSpPr/>
            <p:nvPr/>
          </p:nvGrpSpPr>
          <p:grpSpPr>
            <a:xfrm rot="0">
              <a:off x="0" y="0"/>
              <a:ext cx="3275717" cy="1185464"/>
              <a:chOff x="0" y="0"/>
              <a:chExt cx="647055" cy="234166"/>
            </a:xfrm>
          </p:grpSpPr>
          <p:sp>
            <p:nvSpPr>
              <p:cNvPr name="Freeform 71" id="71"/>
              <p:cNvSpPr/>
              <p:nvPr/>
            </p:nvSpPr>
            <p:spPr>
              <a:xfrm flipH="false" flipV="false" rot="0">
                <a:off x="0" y="0"/>
                <a:ext cx="647055" cy="234166"/>
              </a:xfrm>
              <a:custGeom>
                <a:avLst/>
                <a:gdLst/>
                <a:ahLst/>
                <a:cxnLst/>
                <a:rect r="r" b="b" t="t" l="l"/>
                <a:pathLst>
                  <a:path h="234166" w="647055">
                    <a:moveTo>
                      <a:pt x="117083" y="0"/>
                    </a:moveTo>
                    <a:lnTo>
                      <a:pt x="529972" y="0"/>
                    </a:lnTo>
                    <a:cubicBezTo>
                      <a:pt x="561025" y="0"/>
                      <a:pt x="590805" y="12335"/>
                      <a:pt x="612763" y="34293"/>
                    </a:cubicBezTo>
                    <a:cubicBezTo>
                      <a:pt x="634720" y="56250"/>
                      <a:pt x="647055" y="86031"/>
                      <a:pt x="647055" y="117083"/>
                    </a:cubicBezTo>
                    <a:lnTo>
                      <a:pt x="647055" y="117083"/>
                    </a:lnTo>
                    <a:cubicBezTo>
                      <a:pt x="647055" y="181746"/>
                      <a:pt x="594636" y="234166"/>
                      <a:pt x="529972" y="234166"/>
                    </a:cubicBezTo>
                    <a:lnTo>
                      <a:pt x="117083" y="234166"/>
                    </a:lnTo>
                    <a:cubicBezTo>
                      <a:pt x="52420" y="234166"/>
                      <a:pt x="0" y="181746"/>
                      <a:pt x="0" y="117083"/>
                    </a:cubicBezTo>
                    <a:lnTo>
                      <a:pt x="0" y="117083"/>
                    </a:lnTo>
                    <a:cubicBezTo>
                      <a:pt x="0" y="52420"/>
                      <a:pt x="52420" y="0"/>
                      <a:pt x="117083" y="0"/>
                    </a:cubicBezTo>
                    <a:close/>
                  </a:path>
                </a:pathLst>
              </a:custGeom>
              <a:solidFill>
                <a:srgbClr val="D9D9D9"/>
              </a:solidFill>
              <a:ln w="19050" cap="rnd">
                <a:solidFill>
                  <a:srgbClr val="000000"/>
                </a:solidFill>
                <a:prstDash val="solid"/>
                <a:round/>
              </a:ln>
            </p:spPr>
          </p:sp>
          <p:sp>
            <p:nvSpPr>
              <p:cNvPr name="TextBox 72" id="72"/>
              <p:cNvSpPr txBox="true"/>
              <p:nvPr/>
            </p:nvSpPr>
            <p:spPr>
              <a:xfrm>
                <a:off x="0" y="-66675"/>
                <a:ext cx="647055" cy="300841"/>
              </a:xfrm>
              <a:prstGeom prst="rect">
                <a:avLst/>
              </a:prstGeom>
            </p:spPr>
            <p:txBody>
              <a:bodyPr anchor="ctr" rtlCol="false" tIns="50800" lIns="50800" bIns="50800" rIns="50800"/>
              <a:lstStyle/>
              <a:p>
                <a:pPr algn="ctr">
                  <a:lnSpc>
                    <a:spcPts val="3091"/>
                  </a:lnSpc>
                </a:pPr>
              </a:p>
            </p:txBody>
          </p:sp>
        </p:grpSp>
        <p:sp>
          <p:nvSpPr>
            <p:cNvPr name="TextBox 73" id="73"/>
            <p:cNvSpPr txBox="true"/>
            <p:nvPr/>
          </p:nvSpPr>
          <p:spPr>
            <a:xfrm rot="0">
              <a:off x="405510" y="331154"/>
              <a:ext cx="2464697" cy="456481"/>
            </a:xfrm>
            <a:prstGeom prst="rect">
              <a:avLst/>
            </a:prstGeom>
          </p:spPr>
          <p:txBody>
            <a:bodyPr anchor="t" rtlCol="false" tIns="0" lIns="0" bIns="0" rIns="0">
              <a:spAutoFit/>
            </a:bodyPr>
            <a:lstStyle/>
            <a:p>
              <a:pPr algn="ctr">
                <a:lnSpc>
                  <a:spcPts val="3091"/>
                </a:lnSpc>
                <a:spcBef>
                  <a:spcPct val="0"/>
                </a:spcBef>
              </a:pPr>
              <a:r>
                <a:rPr lang="en-US" b="true" sz="1932">
                  <a:solidFill>
                    <a:srgbClr val="000000"/>
                  </a:solidFill>
                  <a:latin typeface="Open Sauce Bold"/>
                  <a:ea typeface="Open Sauce Bold"/>
                  <a:cs typeface="Open Sauce Bold"/>
                  <a:sym typeface="Open Sauce Bold"/>
                </a:rPr>
                <a:t>Model fitting</a:t>
              </a:r>
            </a:p>
          </p:txBody>
        </p:sp>
      </p:grpSp>
      <p:sp>
        <p:nvSpPr>
          <p:cNvPr name="TextBox 74" id="74"/>
          <p:cNvSpPr txBox="true"/>
          <p:nvPr/>
        </p:nvSpPr>
        <p:spPr>
          <a:xfrm rot="0">
            <a:off x="14883830" y="5101911"/>
            <a:ext cx="3027533" cy="1140079"/>
          </a:xfrm>
          <a:prstGeom prst="rect">
            <a:avLst/>
          </a:prstGeom>
        </p:spPr>
        <p:txBody>
          <a:bodyPr anchor="t" rtlCol="false" tIns="0" lIns="0" bIns="0" rIns="0">
            <a:spAutoFit/>
          </a:bodyPr>
          <a:lstStyle/>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Tabular model</a:t>
            </a:r>
          </a:p>
          <a:p>
            <a:pPr algn="l" marL="417226" indent="-208613" lvl="1">
              <a:lnSpc>
                <a:spcPts val="3091"/>
              </a:lnSpc>
              <a:buFont typeface="Arial"/>
              <a:buChar char="•"/>
            </a:pPr>
            <a:r>
              <a:rPr lang="en-US" sz="1932">
                <a:solidFill>
                  <a:srgbClr val="000000"/>
                </a:solidFill>
                <a:latin typeface="Open Sauce"/>
                <a:ea typeface="Open Sauce"/>
                <a:cs typeface="Open Sauce"/>
                <a:sym typeface="Open Sauce"/>
              </a:rPr>
              <a:t>Embedded model</a:t>
            </a:r>
          </a:p>
          <a:p>
            <a:pPr algn="l" marL="417226" indent="-208613" lvl="1">
              <a:lnSpc>
                <a:spcPts val="3091"/>
              </a:lnSpc>
              <a:spcBef>
                <a:spcPct val="0"/>
              </a:spcBef>
              <a:buFont typeface="Arial"/>
              <a:buChar char="•"/>
            </a:pPr>
            <a:r>
              <a:rPr lang="en-US" sz="1932">
                <a:solidFill>
                  <a:srgbClr val="000000"/>
                </a:solidFill>
                <a:latin typeface="Open Sauce"/>
                <a:ea typeface="Open Sauce"/>
                <a:cs typeface="Open Sauce"/>
                <a:sym typeface="Open Sauce"/>
              </a:rPr>
              <a:t>Interpertations</a:t>
            </a:r>
          </a:p>
        </p:txBody>
      </p:sp>
      <p:sp>
        <p:nvSpPr>
          <p:cNvPr name="TextBox 75" id="75"/>
          <p:cNvSpPr txBox="true"/>
          <p:nvPr/>
        </p:nvSpPr>
        <p:spPr>
          <a:xfrm rot="0">
            <a:off x="13370063" y="7396550"/>
            <a:ext cx="3027533" cy="359029"/>
          </a:xfrm>
          <a:prstGeom prst="rect">
            <a:avLst/>
          </a:prstGeom>
        </p:spPr>
        <p:txBody>
          <a:bodyPr anchor="t" rtlCol="false" tIns="0" lIns="0" bIns="0" rIns="0">
            <a:spAutoFit/>
          </a:bodyPr>
          <a:lstStyle/>
          <a:p>
            <a:pPr algn="ctr">
              <a:lnSpc>
                <a:spcPts val="3091"/>
              </a:lnSpc>
            </a:pPr>
            <a:r>
              <a:rPr lang="en-US" sz="1932">
                <a:solidFill>
                  <a:srgbClr val="000000"/>
                </a:solidFill>
                <a:latin typeface="Open Sauce"/>
                <a:ea typeface="Open Sauce"/>
                <a:cs typeface="Open Sauce"/>
                <a:sym typeface="Open Sauce"/>
              </a:rPr>
              <a:t>Test set</a:t>
            </a:r>
          </a:p>
        </p:txBody>
      </p:sp>
      <p:grpSp>
        <p:nvGrpSpPr>
          <p:cNvPr name="Group 76" id="76"/>
          <p:cNvGrpSpPr/>
          <p:nvPr/>
        </p:nvGrpSpPr>
        <p:grpSpPr>
          <a:xfrm rot="0">
            <a:off x="11606213" y="6832570"/>
            <a:ext cx="5992201" cy="478255"/>
            <a:chOff x="0" y="0"/>
            <a:chExt cx="7989601" cy="637673"/>
          </a:xfrm>
        </p:grpSpPr>
        <p:sp>
          <p:nvSpPr>
            <p:cNvPr name="AutoShape 77" id="77"/>
            <p:cNvSpPr/>
            <p:nvPr/>
          </p:nvSpPr>
          <p:spPr>
            <a:xfrm>
              <a:off x="15242" y="624973"/>
              <a:ext cx="7947516" cy="0"/>
            </a:xfrm>
            <a:prstGeom prst="line">
              <a:avLst/>
            </a:prstGeom>
            <a:ln cap="flat" w="25400">
              <a:solidFill>
                <a:srgbClr val="000000"/>
              </a:solidFill>
              <a:prstDash val="solid"/>
              <a:headEnd type="none" len="sm" w="sm"/>
              <a:tailEnd type="none" len="sm" w="sm"/>
            </a:ln>
          </p:spPr>
        </p:sp>
        <p:sp>
          <p:nvSpPr>
            <p:cNvPr name="AutoShape 78" id="78"/>
            <p:cNvSpPr/>
            <p:nvPr/>
          </p:nvSpPr>
          <p:spPr>
            <a:xfrm flipH="true">
              <a:off x="12700" y="101"/>
              <a:ext cx="5085" cy="637288"/>
            </a:xfrm>
            <a:prstGeom prst="line">
              <a:avLst/>
            </a:prstGeom>
            <a:ln cap="flat" w="25400">
              <a:solidFill>
                <a:srgbClr val="000000"/>
              </a:solidFill>
              <a:prstDash val="solid"/>
              <a:headEnd type="none" len="sm" w="sm"/>
              <a:tailEnd type="none" len="sm" w="sm"/>
            </a:ln>
          </p:spPr>
        </p:sp>
        <p:sp>
          <p:nvSpPr>
            <p:cNvPr name="AutoShape 79" id="79"/>
            <p:cNvSpPr/>
            <p:nvPr/>
          </p:nvSpPr>
          <p:spPr>
            <a:xfrm flipH="true">
              <a:off x="7971816" y="243"/>
              <a:ext cx="5085" cy="637288"/>
            </a:xfrm>
            <a:prstGeom prst="line">
              <a:avLst/>
            </a:prstGeom>
            <a:ln cap="flat" w="25400">
              <a:solidFill>
                <a:srgbClr val="000000"/>
              </a:solidFill>
              <a:prstDash val="solid"/>
              <a:headEnd type="none" len="sm" w="sm"/>
              <a:tailEnd type="none" len="sm" w="sm"/>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6716537" y="2988328"/>
            <a:ext cx="11143044" cy="6920268"/>
          </a:xfrm>
          <a:custGeom>
            <a:avLst/>
            <a:gdLst/>
            <a:ahLst/>
            <a:cxnLst/>
            <a:rect r="r" b="b" t="t" l="l"/>
            <a:pathLst>
              <a:path h="6920268" w="11143044">
                <a:moveTo>
                  <a:pt x="0" y="0"/>
                </a:moveTo>
                <a:lnTo>
                  <a:pt x="11143044" y="0"/>
                </a:lnTo>
                <a:lnTo>
                  <a:pt x="11143044" y="6920268"/>
                </a:lnTo>
                <a:lnTo>
                  <a:pt x="0" y="6920268"/>
                </a:lnTo>
                <a:lnTo>
                  <a:pt x="0" y="0"/>
                </a:lnTo>
                <a:close/>
              </a:path>
            </a:pathLst>
          </a:custGeom>
          <a:blipFill>
            <a:blip r:embed="rId2"/>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just">
              <a:lnSpc>
                <a:spcPts val="6300"/>
              </a:lnSpc>
            </a:pPr>
            <a:r>
              <a:rPr lang="en-US" sz="4500">
                <a:solidFill>
                  <a:srgbClr val="000000"/>
                </a:solidFill>
                <a:latin typeface="DM Serif Display"/>
                <a:ea typeface="DM Serif Display"/>
                <a:cs typeface="DM Serif Display"/>
                <a:sym typeface="DM Serif Display"/>
              </a:rPr>
              <a:t>Exploratory Data Analysis</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Missing values per variable - null analysis</a:t>
            </a:r>
          </a:p>
        </p:txBody>
      </p:sp>
      <p:sp>
        <p:nvSpPr>
          <p:cNvPr name="TextBox 6" id="6"/>
          <p:cNvSpPr txBox="true"/>
          <p:nvPr/>
        </p:nvSpPr>
        <p:spPr>
          <a:xfrm rot="0">
            <a:off x="1918121" y="2950228"/>
            <a:ext cx="4798416" cy="3466820"/>
          </a:xfrm>
          <a:prstGeom prst="rect">
            <a:avLst/>
          </a:prstGeom>
        </p:spPr>
        <p:txBody>
          <a:bodyPr anchor="t" rtlCol="false" tIns="0" lIns="0" bIns="0" rIns="0">
            <a:spAutoFit/>
          </a:bodyPr>
          <a:lstStyle/>
          <a:p>
            <a:pPr algn="l">
              <a:lnSpc>
                <a:spcPts val="3076"/>
              </a:lnSpc>
              <a:spcBef>
                <a:spcPct val="0"/>
              </a:spcBef>
            </a:pPr>
            <a:r>
              <a:rPr lang="en-US" sz="2197">
                <a:solidFill>
                  <a:srgbClr val="000000"/>
                </a:solidFill>
                <a:latin typeface="Open Sauce"/>
                <a:ea typeface="Open Sauce"/>
                <a:cs typeface="Open Sauce"/>
                <a:sym typeface="Open Sauce"/>
              </a:rPr>
              <a:t>M</a:t>
            </a:r>
            <a:r>
              <a:rPr lang="en-US" sz="2197">
                <a:solidFill>
                  <a:srgbClr val="000000"/>
                </a:solidFill>
                <a:latin typeface="Open Sauce"/>
                <a:ea typeface="Open Sauce"/>
                <a:cs typeface="Open Sauce"/>
                <a:sym typeface="Open Sauce"/>
              </a:rPr>
              <a:t>ost of the samples are missing:</a:t>
            </a:r>
          </a:p>
          <a:p>
            <a:pPr algn="l" marL="474371" indent="-237185" lvl="1">
              <a:lnSpc>
                <a:spcPts val="3076"/>
              </a:lnSpc>
              <a:spcBef>
                <a:spcPct val="0"/>
              </a:spcBef>
              <a:buFont typeface="Arial"/>
              <a:buChar char="•"/>
            </a:pPr>
            <a:r>
              <a:rPr lang="en-US" sz="2197">
                <a:solidFill>
                  <a:srgbClr val="000000"/>
                </a:solidFill>
                <a:latin typeface="Open Sauce"/>
                <a:ea typeface="Open Sauce"/>
                <a:cs typeface="Open Sauce"/>
                <a:sym typeface="Open Sauce"/>
              </a:rPr>
              <a:t>facial_expression</a:t>
            </a:r>
          </a:p>
          <a:p>
            <a:pPr algn="l" marL="474371" indent="-237185" lvl="1">
              <a:lnSpc>
                <a:spcPts val="3076"/>
              </a:lnSpc>
              <a:spcBef>
                <a:spcPct val="0"/>
              </a:spcBef>
              <a:buFont typeface="Arial"/>
              <a:buChar char="•"/>
            </a:pPr>
            <a:r>
              <a:rPr lang="en-US" sz="2197">
                <a:solidFill>
                  <a:srgbClr val="000000"/>
                </a:solidFill>
                <a:latin typeface="Open Sauce"/>
                <a:ea typeface="Open Sauce"/>
                <a:cs typeface="Open Sauce"/>
                <a:sym typeface="Open Sauce"/>
              </a:rPr>
              <a:t>human_action</a:t>
            </a:r>
          </a:p>
          <a:p>
            <a:pPr algn="l" marL="474371" indent="-237185" lvl="1">
              <a:lnSpc>
                <a:spcPts val="3076"/>
              </a:lnSpc>
              <a:spcBef>
                <a:spcPct val="0"/>
              </a:spcBef>
              <a:buFont typeface="Arial"/>
              <a:buChar char="•"/>
            </a:pPr>
            <a:r>
              <a:rPr lang="en-US" sz="2197">
                <a:solidFill>
                  <a:srgbClr val="000000"/>
                </a:solidFill>
                <a:latin typeface="Open Sauce"/>
                <a:ea typeface="Open Sauce"/>
                <a:cs typeface="Open Sauce"/>
                <a:sym typeface="Open Sauce"/>
              </a:rPr>
              <a:t>scene</a:t>
            </a:r>
          </a:p>
          <a:p>
            <a:pPr algn="l">
              <a:lnSpc>
                <a:spcPts val="3076"/>
              </a:lnSpc>
              <a:spcBef>
                <a:spcPct val="0"/>
              </a:spcBef>
            </a:pPr>
            <a:r>
              <a:rPr lang="en-US" sz="2197">
                <a:solidFill>
                  <a:srgbClr val="000000"/>
                </a:solidFill>
                <a:latin typeface="Open Sauce"/>
                <a:ea typeface="Open Sauce"/>
                <a:cs typeface="Open Sauce"/>
                <a:sym typeface="Open Sauce"/>
              </a:rPr>
              <a:t>We decided to leave these variables out of the analysis. </a:t>
            </a:r>
          </a:p>
          <a:p>
            <a:pPr algn="l">
              <a:lnSpc>
                <a:spcPts val="3076"/>
              </a:lnSpc>
              <a:spcBef>
                <a:spcPct val="0"/>
              </a:spcBef>
            </a:pPr>
          </a:p>
          <a:p>
            <a:pPr algn="l">
              <a:lnSpc>
                <a:spcPts val="3076"/>
              </a:lnSpc>
              <a:spcBef>
                <a:spcPct val="0"/>
              </a:spcBef>
            </a:pPr>
            <a:r>
              <a:rPr lang="en-US" sz="2197">
                <a:solidFill>
                  <a:srgbClr val="000000"/>
                </a:solidFill>
                <a:latin typeface="Open Sauce"/>
                <a:ea typeface="Open Sauce"/>
                <a:cs typeface="Open Sauce"/>
                <a:sym typeface="Open Sauce"/>
              </a:rPr>
              <a:t>Colorfulness and brighness missing values will be handled.</a:t>
            </a:r>
          </a:p>
        </p:txBody>
      </p:sp>
      <p:grpSp>
        <p:nvGrpSpPr>
          <p:cNvPr name="Group 7" id="7"/>
          <p:cNvGrpSpPr/>
          <p:nvPr/>
        </p:nvGrpSpPr>
        <p:grpSpPr>
          <a:xfrm rot="0">
            <a:off x="1028700" y="2988328"/>
            <a:ext cx="633458" cy="633458"/>
            <a:chOff x="0" y="0"/>
            <a:chExt cx="844611" cy="844611"/>
          </a:xfrm>
        </p:grpSpPr>
        <p:grpSp>
          <p:nvGrpSpPr>
            <p:cNvPr name="Group 8" id="8"/>
            <p:cNvGrpSpPr/>
            <p:nvPr/>
          </p:nvGrpSpPr>
          <p:grpSpPr>
            <a:xfrm rot="0">
              <a:off x="0" y="0"/>
              <a:ext cx="844611" cy="8446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TextBox 11" id="11"/>
            <p:cNvSpPr txBox="true"/>
            <p:nvPr/>
          </p:nvSpPr>
          <p:spPr>
            <a:xfrm rot="0">
              <a:off x="25449" y="129796"/>
              <a:ext cx="758350" cy="526500"/>
            </a:xfrm>
            <a:prstGeom prst="rect">
              <a:avLst/>
            </a:prstGeom>
          </p:spPr>
          <p:txBody>
            <a:bodyPr anchor="t" rtlCol="false" tIns="0" lIns="0" bIns="0" rIns="0">
              <a:spAutoFit/>
            </a:bodyPr>
            <a:lstStyle/>
            <a:p>
              <a:pPr algn="ctr" marL="0" indent="0" lvl="0">
                <a:lnSpc>
                  <a:spcPts val="3564"/>
                </a:lnSpc>
              </a:pPr>
              <a:r>
                <a:rPr lang="en-US" b="true" sz="2227">
                  <a:solidFill>
                    <a:srgbClr val="000000"/>
                  </a:solidFill>
                  <a:latin typeface="Open Sauce Bold"/>
                  <a:ea typeface="Open Sauce Bold"/>
                  <a:cs typeface="Open Sauce Bold"/>
                  <a:sym typeface="Open Sauce Bold"/>
                </a:rPr>
                <a:t>1</a:t>
              </a:r>
            </a:p>
          </p:txBody>
        </p:sp>
      </p:grpSp>
      <p:grpSp>
        <p:nvGrpSpPr>
          <p:cNvPr name="Group 12" id="12"/>
          <p:cNvGrpSpPr/>
          <p:nvPr/>
        </p:nvGrpSpPr>
        <p:grpSpPr>
          <a:xfrm rot="0">
            <a:off x="1028700" y="5717218"/>
            <a:ext cx="633458" cy="633458"/>
            <a:chOff x="0" y="0"/>
            <a:chExt cx="844611" cy="844611"/>
          </a:xfrm>
        </p:grpSpPr>
        <p:grpSp>
          <p:nvGrpSpPr>
            <p:cNvPr name="Group 13" id="13"/>
            <p:cNvGrpSpPr/>
            <p:nvPr/>
          </p:nvGrpSpPr>
          <p:grpSpPr>
            <a:xfrm rot="0">
              <a:off x="0" y="0"/>
              <a:ext cx="844611" cy="84461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34290" y="129796"/>
              <a:ext cx="758350" cy="526500"/>
            </a:xfrm>
            <a:prstGeom prst="rect">
              <a:avLst/>
            </a:prstGeom>
          </p:spPr>
          <p:txBody>
            <a:bodyPr anchor="t" rtlCol="false" tIns="0" lIns="0" bIns="0" rIns="0">
              <a:spAutoFit/>
            </a:bodyPr>
            <a:lstStyle/>
            <a:p>
              <a:pPr algn="ctr" marL="0" indent="0" lvl="0">
                <a:lnSpc>
                  <a:spcPts val="3564"/>
                </a:lnSpc>
              </a:pPr>
              <a:r>
                <a:rPr lang="en-US" b="true" sz="2227">
                  <a:solidFill>
                    <a:srgbClr val="000000"/>
                  </a:solidFill>
                  <a:latin typeface="Open Sauce Bold"/>
                  <a:ea typeface="Open Sauce Bold"/>
                  <a:cs typeface="Open Sauce Bold"/>
                  <a:sym typeface="Open Sauce Bold"/>
                </a:rPr>
                <a:t>2</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2114183" y="4300080"/>
            <a:ext cx="13731540" cy="5664260"/>
          </a:xfrm>
          <a:custGeom>
            <a:avLst/>
            <a:gdLst/>
            <a:ahLst/>
            <a:cxnLst/>
            <a:rect r="r" b="b" t="t" l="l"/>
            <a:pathLst>
              <a:path h="5664260" w="13731540">
                <a:moveTo>
                  <a:pt x="0" y="0"/>
                </a:moveTo>
                <a:lnTo>
                  <a:pt x="13731541" y="0"/>
                </a:lnTo>
                <a:lnTo>
                  <a:pt x="13731541" y="5664261"/>
                </a:lnTo>
                <a:lnTo>
                  <a:pt x="0" y="5664261"/>
                </a:lnTo>
                <a:lnTo>
                  <a:pt x="0" y="0"/>
                </a:lnTo>
                <a:close/>
              </a:path>
            </a:pathLst>
          </a:custGeom>
          <a:blipFill>
            <a:blip r:embed="rId2"/>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just">
              <a:lnSpc>
                <a:spcPts val="6300"/>
              </a:lnSpc>
            </a:pPr>
            <a:r>
              <a:rPr lang="en-US" sz="4500">
                <a:solidFill>
                  <a:srgbClr val="000000"/>
                </a:solidFill>
                <a:latin typeface="DM Serif Display"/>
                <a:ea typeface="DM Serif Display"/>
                <a:cs typeface="DM Serif Display"/>
                <a:sym typeface="DM Serif Display"/>
              </a:rPr>
              <a:t>Exploratory Data Analysis</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Numeric variables preprocessing</a:t>
            </a:r>
          </a:p>
        </p:txBody>
      </p:sp>
      <p:sp>
        <p:nvSpPr>
          <p:cNvPr name="TextBox 6" id="6"/>
          <p:cNvSpPr txBox="true"/>
          <p:nvPr/>
        </p:nvSpPr>
        <p:spPr>
          <a:xfrm rot="0">
            <a:off x="1166399" y="2680955"/>
            <a:ext cx="14963440" cy="1278889"/>
          </a:xfrm>
          <a:prstGeom prst="rect">
            <a:avLst/>
          </a:prstGeom>
        </p:spPr>
        <p:txBody>
          <a:bodyPr anchor="t" rtlCol="false" tIns="0" lIns="0" bIns="0" rIns="0">
            <a:spAutoFit/>
          </a:bodyPr>
          <a:lstStyle/>
          <a:p>
            <a:pPr algn="l" marL="474983" indent="-237491" lvl="1">
              <a:lnSpc>
                <a:spcPts val="3520"/>
              </a:lnSpc>
              <a:buFont typeface="Arial"/>
              <a:buChar char="•"/>
            </a:pPr>
            <a:r>
              <a:rPr lang="en-US" sz="2200">
                <a:solidFill>
                  <a:srgbClr val="000000"/>
                </a:solidFill>
                <a:latin typeface="Open Sauce"/>
                <a:ea typeface="Open Sauce"/>
                <a:cs typeface="Open Sauce"/>
                <a:sym typeface="Open Sauce"/>
              </a:rPr>
              <a:t>Distribution seems close to normal</a:t>
            </a:r>
          </a:p>
          <a:p>
            <a:pPr algn="l" marL="474983" indent="-237491" lvl="1">
              <a:lnSpc>
                <a:spcPts val="3520"/>
              </a:lnSpc>
              <a:buFont typeface="Arial"/>
              <a:buChar char="•"/>
            </a:pPr>
            <a:r>
              <a:rPr lang="en-US" sz="2200">
                <a:solidFill>
                  <a:srgbClr val="000000"/>
                </a:solidFill>
                <a:latin typeface="Open Sauce"/>
                <a:ea typeface="Open Sauce"/>
                <a:cs typeface="Open Sauce"/>
                <a:sym typeface="Open Sauce"/>
              </a:rPr>
              <a:t>Missing values were filled with median value of each variable</a:t>
            </a:r>
          </a:p>
          <a:p>
            <a:pPr algn="l" marL="474983" indent="-237491" lvl="1">
              <a:lnSpc>
                <a:spcPts val="3520"/>
              </a:lnSpc>
              <a:spcBef>
                <a:spcPct val="0"/>
              </a:spcBef>
              <a:buFont typeface="Arial"/>
              <a:buChar char="•"/>
            </a:pPr>
            <a:r>
              <a:rPr lang="en-US" sz="2200">
                <a:solidFill>
                  <a:srgbClr val="000000"/>
                </a:solidFill>
                <a:latin typeface="Open Sauce"/>
                <a:ea typeface="Open Sauce"/>
                <a:cs typeface="Open Sauce"/>
                <a:sym typeface="Open Sauce"/>
              </a:rPr>
              <a:t>r = 0.23, suggesting that each numeric variable holds unique information and that we should keep both.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6405469" y="2188320"/>
            <a:ext cx="8883426" cy="7974481"/>
          </a:xfrm>
          <a:custGeom>
            <a:avLst/>
            <a:gdLst/>
            <a:ahLst/>
            <a:cxnLst/>
            <a:rect r="r" b="b" t="t" l="l"/>
            <a:pathLst>
              <a:path h="7974481" w="8883426">
                <a:moveTo>
                  <a:pt x="0" y="0"/>
                </a:moveTo>
                <a:lnTo>
                  <a:pt x="8883426" y="0"/>
                </a:lnTo>
                <a:lnTo>
                  <a:pt x="8883426" y="7974481"/>
                </a:lnTo>
                <a:lnTo>
                  <a:pt x="0" y="7974481"/>
                </a:lnTo>
                <a:lnTo>
                  <a:pt x="0" y="0"/>
                </a:lnTo>
                <a:close/>
              </a:path>
            </a:pathLst>
          </a:custGeom>
          <a:blipFill>
            <a:blip r:embed="rId2"/>
            <a:stretch>
              <a:fillRect l="0" t="0" r="0" b="0"/>
            </a:stretch>
          </a:blipFill>
        </p:spPr>
      </p:sp>
      <p:sp>
        <p:nvSpPr>
          <p:cNvPr name="Freeform 4" id="4"/>
          <p:cNvSpPr/>
          <p:nvPr/>
        </p:nvSpPr>
        <p:spPr>
          <a:xfrm flipH="false" flipV="false" rot="0">
            <a:off x="14780317" y="2188320"/>
            <a:ext cx="3327195" cy="1358694"/>
          </a:xfrm>
          <a:custGeom>
            <a:avLst/>
            <a:gdLst/>
            <a:ahLst/>
            <a:cxnLst/>
            <a:rect r="r" b="b" t="t" l="l"/>
            <a:pathLst>
              <a:path h="1358694" w="3327195">
                <a:moveTo>
                  <a:pt x="0" y="0"/>
                </a:moveTo>
                <a:lnTo>
                  <a:pt x="3327194" y="0"/>
                </a:lnTo>
                <a:lnTo>
                  <a:pt x="3327194" y="1358694"/>
                </a:lnTo>
                <a:lnTo>
                  <a:pt x="0" y="1358694"/>
                </a:lnTo>
                <a:lnTo>
                  <a:pt x="0" y="0"/>
                </a:lnTo>
                <a:close/>
              </a:path>
            </a:pathLst>
          </a:custGeom>
          <a:blipFill>
            <a:blip r:embed="rId3"/>
            <a:stretch>
              <a:fillRect l="0" t="0" r="0" b="0"/>
            </a:stretch>
          </a:blipFill>
        </p:spPr>
      </p:sp>
      <p:sp>
        <p:nvSpPr>
          <p:cNvPr name="TextBox 5" id="5"/>
          <p:cNvSpPr txBox="true"/>
          <p:nvPr/>
        </p:nvSpPr>
        <p:spPr>
          <a:xfrm rot="0">
            <a:off x="1166399" y="1150096"/>
            <a:ext cx="13953866" cy="771524"/>
          </a:xfrm>
          <a:prstGeom prst="rect">
            <a:avLst/>
          </a:prstGeom>
        </p:spPr>
        <p:txBody>
          <a:bodyPr anchor="t" rtlCol="false" tIns="0" lIns="0" bIns="0" rIns="0">
            <a:spAutoFit/>
          </a:bodyPr>
          <a:lstStyle/>
          <a:p>
            <a:pPr algn="just">
              <a:lnSpc>
                <a:spcPts val="6300"/>
              </a:lnSpc>
            </a:pPr>
            <a:r>
              <a:rPr lang="en-US" sz="4500">
                <a:solidFill>
                  <a:srgbClr val="000000"/>
                </a:solidFill>
                <a:latin typeface="DM Serif Display"/>
                <a:ea typeface="DM Serif Display"/>
                <a:cs typeface="DM Serif Display"/>
                <a:sym typeface="DM Serif Display"/>
              </a:rPr>
              <a:t>Exploratory Data Analysis</a:t>
            </a:r>
          </a:p>
        </p:txBody>
      </p:sp>
      <p:sp>
        <p:nvSpPr>
          <p:cNvPr name="TextBox 6" id="6"/>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Target variable distribution</a:t>
            </a:r>
          </a:p>
        </p:txBody>
      </p:sp>
      <p:sp>
        <p:nvSpPr>
          <p:cNvPr name="TextBox 7" id="7"/>
          <p:cNvSpPr txBox="true"/>
          <p:nvPr/>
        </p:nvSpPr>
        <p:spPr>
          <a:xfrm rot="0">
            <a:off x="1166399" y="2941859"/>
            <a:ext cx="5604149" cy="1096010"/>
          </a:xfrm>
          <a:prstGeom prst="rect">
            <a:avLst/>
          </a:prstGeom>
        </p:spPr>
        <p:txBody>
          <a:bodyPr anchor="t" rtlCol="false" tIns="0" lIns="0" bIns="0" rIns="0">
            <a:spAutoFit/>
          </a:bodyPr>
          <a:lstStyle/>
          <a:p>
            <a:pPr algn="l">
              <a:lnSpc>
                <a:spcPts val="4479"/>
              </a:lnSpc>
              <a:spcBef>
                <a:spcPct val="0"/>
              </a:spcBef>
            </a:pPr>
            <a:r>
              <a:rPr lang="en-US" sz="2799">
                <a:solidFill>
                  <a:srgbClr val="000000"/>
                </a:solidFill>
                <a:latin typeface="Open Sauce"/>
                <a:ea typeface="Open Sauce"/>
                <a:cs typeface="Open Sauce"/>
                <a:sym typeface="Open Sauce"/>
              </a:rPr>
              <a:t>Classes are relatively balanced, no need to handle imbalance.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7730394" y="1578720"/>
            <a:ext cx="10381003" cy="8594445"/>
          </a:xfrm>
          <a:custGeom>
            <a:avLst/>
            <a:gdLst/>
            <a:ahLst/>
            <a:cxnLst/>
            <a:rect r="r" b="b" t="t" l="l"/>
            <a:pathLst>
              <a:path h="8594445" w="10381003">
                <a:moveTo>
                  <a:pt x="0" y="0"/>
                </a:moveTo>
                <a:lnTo>
                  <a:pt x="10381004" y="0"/>
                </a:lnTo>
                <a:lnTo>
                  <a:pt x="10381004" y="8594446"/>
                </a:lnTo>
                <a:lnTo>
                  <a:pt x="0" y="8594446"/>
                </a:lnTo>
                <a:lnTo>
                  <a:pt x="0" y="0"/>
                </a:lnTo>
                <a:close/>
              </a:path>
            </a:pathLst>
          </a:custGeom>
          <a:blipFill>
            <a:blip r:embed="rId2"/>
            <a:stretch>
              <a:fillRect l="0" t="0" r="-7694"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just">
              <a:lnSpc>
                <a:spcPts val="6300"/>
              </a:lnSpc>
            </a:pPr>
            <a:r>
              <a:rPr lang="en-US" sz="4500">
                <a:solidFill>
                  <a:srgbClr val="000000"/>
                </a:solidFill>
                <a:latin typeface="DM Serif Display"/>
                <a:ea typeface="DM Serif Display"/>
                <a:cs typeface="DM Serif Display"/>
                <a:sym typeface="DM Serif Display"/>
              </a:rPr>
              <a:t>Exploratory Data Analysis</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Clustering on embedded variables</a:t>
            </a:r>
          </a:p>
        </p:txBody>
      </p:sp>
      <p:sp>
        <p:nvSpPr>
          <p:cNvPr name="TextBox 6" id="6"/>
          <p:cNvSpPr txBox="true"/>
          <p:nvPr/>
        </p:nvSpPr>
        <p:spPr>
          <a:xfrm rot="0">
            <a:off x="1166399" y="2796309"/>
            <a:ext cx="6030016" cy="6309360"/>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The top row - PCA and t-SNE (colored by true emotion) </a:t>
            </a:r>
          </a:p>
          <a:p>
            <a:pPr algn="l" marL="453390" indent="-226695" lvl="1">
              <a:lnSpc>
                <a:spcPts val="2940"/>
              </a:lnSpc>
              <a:buFont typeface="Arial"/>
              <a:buChar char="•"/>
            </a:pPr>
            <a:r>
              <a:rPr lang="en-US" sz="2100">
                <a:solidFill>
                  <a:srgbClr val="000000"/>
                </a:solidFill>
                <a:latin typeface="Open Sauce"/>
                <a:ea typeface="Open Sauce"/>
                <a:cs typeface="Open Sauce"/>
                <a:sym typeface="Open Sauce"/>
              </a:rPr>
              <a:t>PC1 looks like valence of emotions. </a:t>
            </a:r>
          </a:p>
          <a:p>
            <a:pPr algn="l" marL="453390" indent="-226695" lvl="1">
              <a:lnSpc>
                <a:spcPts val="2940"/>
              </a:lnSpc>
              <a:buFont typeface="Arial"/>
              <a:buChar char="•"/>
            </a:pPr>
            <a:r>
              <a:rPr lang="en-US" sz="2100">
                <a:solidFill>
                  <a:srgbClr val="000000"/>
                </a:solidFill>
                <a:latin typeface="Open Sauce"/>
                <a:ea typeface="Open Sauce"/>
                <a:cs typeface="Open Sauce"/>
                <a:sym typeface="Open Sauce"/>
              </a:rPr>
              <a:t>There’s some grouping by valence</a:t>
            </a:r>
          </a:p>
          <a:p>
            <a:pPr algn="l" marL="453390" indent="-226695" lvl="1">
              <a:lnSpc>
                <a:spcPts val="2940"/>
              </a:lnSpc>
              <a:buFont typeface="Arial"/>
              <a:buChar char="•"/>
            </a:pPr>
            <a:r>
              <a:rPr lang="en-US" sz="2100">
                <a:solidFill>
                  <a:srgbClr val="000000"/>
                </a:solidFill>
                <a:latin typeface="Open Sauce"/>
                <a:ea typeface="Open Sauce"/>
                <a:cs typeface="Open Sauce"/>
                <a:sym typeface="Open Sauce"/>
              </a:rPr>
              <a:t>Within each group - individual emotions are heavily mixed.</a:t>
            </a:r>
          </a:p>
          <a:p>
            <a:pPr algn="l">
              <a:lnSpc>
                <a:spcPts val="2940"/>
              </a:lnSpc>
            </a:pPr>
          </a:p>
          <a:p>
            <a:pPr algn="l">
              <a:lnSpc>
                <a:spcPts val="2940"/>
              </a:lnSpc>
            </a:pPr>
            <a:r>
              <a:rPr lang="en-US" sz="2100" b="true">
                <a:solidFill>
                  <a:srgbClr val="000000"/>
                </a:solidFill>
                <a:latin typeface="Open Sauce Bold"/>
                <a:ea typeface="Open Sauce Bold"/>
                <a:cs typeface="Open Sauce Bold"/>
                <a:sym typeface="Open Sauce Bold"/>
              </a:rPr>
              <a:t>The bottom row - K-Means clusters </a:t>
            </a:r>
          </a:p>
          <a:p>
            <a:pPr algn="l" marL="453390" indent="-226695" lvl="1">
              <a:lnSpc>
                <a:spcPts val="2940"/>
              </a:lnSpc>
              <a:buFont typeface="Arial"/>
              <a:buChar char="•"/>
            </a:pPr>
            <a:r>
              <a:rPr lang="en-US" sz="2100">
                <a:solidFill>
                  <a:srgbClr val="000000"/>
                </a:solidFill>
                <a:latin typeface="Open Sauce"/>
                <a:ea typeface="Open Sauce"/>
                <a:cs typeface="Open Sauce"/>
                <a:sym typeface="Open Sauce"/>
              </a:rPr>
              <a:t>Spatially coherent groups, but:</a:t>
            </a:r>
          </a:p>
          <a:p>
            <a:pPr algn="l" marL="453390" indent="-226695" lvl="1">
              <a:lnSpc>
                <a:spcPts val="2940"/>
              </a:lnSpc>
              <a:buFont typeface="Arial"/>
              <a:buChar char="•"/>
            </a:pPr>
            <a:r>
              <a:rPr lang="en-US" sz="2100">
                <a:solidFill>
                  <a:srgbClr val="000000"/>
                </a:solidFill>
                <a:latin typeface="Open Sauce"/>
                <a:ea typeface="Open Sauce"/>
                <a:cs typeface="Open Sauce"/>
                <a:sym typeface="Open Sauce"/>
              </a:rPr>
              <a:t>A </a:t>
            </a:r>
            <a:r>
              <a:rPr lang="en-US" sz="2100">
                <a:solidFill>
                  <a:srgbClr val="000000"/>
                </a:solidFill>
                <a:latin typeface="Open Sauce"/>
                <a:ea typeface="Open Sauce"/>
                <a:cs typeface="Open Sauce"/>
                <a:sym typeface="Open Sauce"/>
              </a:rPr>
              <a:t>single cluster often spans multiple emotions, and a single emotion gets split across clusters.</a:t>
            </a:r>
          </a:p>
          <a:p>
            <a:pPr algn="l">
              <a:lnSpc>
                <a:spcPts val="2940"/>
              </a:lnSpc>
            </a:pPr>
          </a:p>
          <a:p>
            <a:pPr algn="l">
              <a:lnSpc>
                <a:spcPts val="2940"/>
              </a:lnSpc>
              <a:spcBef>
                <a:spcPct val="0"/>
              </a:spcBef>
            </a:pPr>
            <a:r>
              <a:rPr lang="en-US" sz="2100">
                <a:solidFill>
                  <a:srgbClr val="000000"/>
                </a:solidFill>
                <a:latin typeface="Open Sauce"/>
                <a:ea typeface="Open Sauce"/>
                <a:cs typeface="Open Sauce"/>
                <a:sym typeface="Open Sauce"/>
              </a:rPr>
              <a:t>This suggests that emotions in this embedding space are organized dimensionally (roughly positive→negative) rather than categorically (8 discrete clusters).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1028700" y="4191000"/>
            <a:ext cx="16230600" cy="5721287"/>
          </a:xfrm>
          <a:custGeom>
            <a:avLst/>
            <a:gdLst/>
            <a:ahLst/>
            <a:cxnLst/>
            <a:rect r="r" b="b" t="t" l="l"/>
            <a:pathLst>
              <a:path h="5721287" w="16230600">
                <a:moveTo>
                  <a:pt x="0" y="0"/>
                </a:moveTo>
                <a:lnTo>
                  <a:pt x="16230600" y="0"/>
                </a:lnTo>
                <a:lnTo>
                  <a:pt x="16230600" y="5721287"/>
                </a:lnTo>
                <a:lnTo>
                  <a:pt x="0" y="5721287"/>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just">
              <a:lnSpc>
                <a:spcPts val="6300"/>
              </a:lnSpc>
            </a:pPr>
            <a:r>
              <a:rPr lang="en-US" sz="4500">
                <a:solidFill>
                  <a:srgbClr val="000000"/>
                </a:solidFill>
                <a:latin typeface="DM Serif Display"/>
                <a:ea typeface="DM Serif Display"/>
                <a:cs typeface="DM Serif Display"/>
                <a:sym typeface="DM Serif Display"/>
              </a:rPr>
              <a:t>Exploratory Data Analysis</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Clustering on embedded variables</a:t>
            </a:r>
          </a:p>
        </p:txBody>
      </p:sp>
      <p:sp>
        <p:nvSpPr>
          <p:cNvPr name="TextBox 6" id="6"/>
          <p:cNvSpPr txBox="true"/>
          <p:nvPr/>
        </p:nvSpPr>
        <p:spPr>
          <a:xfrm rot="0">
            <a:off x="1166399" y="2849935"/>
            <a:ext cx="14582943" cy="860425"/>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Open Sauce"/>
                <a:ea typeface="Open Sauce"/>
                <a:cs typeface="Open Sauce"/>
                <a:sym typeface="Open Sauce"/>
              </a:rPr>
              <a:t>Elbow Method and Silhouette Analysis score suggests that the embedded space show no discrete separation for the 8 emotions in an unsupervised structure </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TextBox 3" id="3"/>
          <p:cNvSpPr txBox="true"/>
          <p:nvPr/>
        </p:nvSpPr>
        <p:spPr>
          <a:xfrm rot="0">
            <a:off x="1166399" y="969121"/>
            <a:ext cx="11525584" cy="5006340"/>
          </a:xfrm>
          <a:prstGeom prst="rect">
            <a:avLst/>
          </a:prstGeom>
        </p:spPr>
        <p:txBody>
          <a:bodyPr anchor="t" rtlCol="false" tIns="0" lIns="0" bIns="0" rIns="0">
            <a:spAutoFit/>
          </a:bodyPr>
          <a:lstStyle/>
          <a:p>
            <a:pPr algn="just">
              <a:lnSpc>
                <a:spcPts val="20160"/>
              </a:lnSpc>
            </a:pPr>
            <a:r>
              <a:rPr lang="en-US" sz="14400">
                <a:solidFill>
                  <a:srgbClr val="000000"/>
                </a:solidFill>
                <a:latin typeface="DM Serif Display"/>
                <a:ea typeface="DM Serif Display"/>
                <a:cs typeface="DM Serif Display"/>
                <a:sym typeface="DM Serif Display"/>
              </a:rPr>
              <a:t>Tabular Model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8312069" y="3647086"/>
            <a:ext cx="9726279" cy="6032755"/>
          </a:xfrm>
          <a:custGeom>
            <a:avLst/>
            <a:gdLst/>
            <a:ahLst/>
            <a:cxnLst/>
            <a:rect r="r" b="b" t="t" l="l"/>
            <a:pathLst>
              <a:path h="6032755" w="9726279">
                <a:moveTo>
                  <a:pt x="0" y="0"/>
                </a:moveTo>
                <a:lnTo>
                  <a:pt x="9726279" y="0"/>
                </a:lnTo>
                <a:lnTo>
                  <a:pt x="9726279" y="6032755"/>
                </a:lnTo>
                <a:lnTo>
                  <a:pt x="0" y="6032755"/>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just">
              <a:lnSpc>
                <a:spcPts val="6300"/>
              </a:lnSpc>
            </a:pPr>
            <a:r>
              <a:rPr lang="en-US" sz="4500">
                <a:solidFill>
                  <a:srgbClr val="000000"/>
                </a:solidFill>
                <a:latin typeface="DM Serif Display"/>
                <a:ea typeface="DM Serif Display"/>
                <a:cs typeface="DM Serif Display"/>
                <a:sym typeface="DM Serif Display"/>
              </a:rPr>
              <a:t>Preprocessing Variables</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Text variables: TF-IDF</a:t>
            </a:r>
          </a:p>
        </p:txBody>
      </p:sp>
      <p:sp>
        <p:nvSpPr>
          <p:cNvPr name="TextBox 6" id="6"/>
          <p:cNvSpPr txBox="true"/>
          <p:nvPr/>
        </p:nvSpPr>
        <p:spPr>
          <a:xfrm rot="0">
            <a:off x="1170644" y="3274170"/>
            <a:ext cx="6972688" cy="3887470"/>
          </a:xfrm>
          <a:prstGeom prst="rect">
            <a:avLst/>
          </a:prstGeom>
        </p:spPr>
        <p:txBody>
          <a:bodyPr anchor="t" rtlCol="false" tIns="0" lIns="0" bIns="0" rIns="0">
            <a:spAutoFit/>
          </a:bodyPr>
          <a:lstStyle/>
          <a:p>
            <a:pPr algn="l">
              <a:lnSpc>
                <a:spcPts val="3079"/>
              </a:lnSpc>
            </a:pPr>
            <a:r>
              <a:rPr lang="en-US" sz="2199" b="true">
                <a:solidFill>
                  <a:srgbClr val="000000"/>
                </a:solidFill>
                <a:latin typeface="Open Sauce Bold"/>
                <a:ea typeface="Open Sauce Bold"/>
                <a:cs typeface="Open Sauce Bold"/>
                <a:sym typeface="Open Sauce Bold"/>
              </a:rPr>
              <a:t>Unified TF-IDF for all text features: </a:t>
            </a:r>
          </a:p>
          <a:p>
            <a:pPr algn="l">
              <a:lnSpc>
                <a:spcPts val="3079"/>
              </a:lnSpc>
            </a:pPr>
            <a:r>
              <a:rPr lang="en-US" sz="2199">
                <a:solidFill>
                  <a:srgbClr val="000000"/>
                </a:solidFill>
                <a:latin typeface="Open Sauce"/>
                <a:ea typeface="Open Sauce"/>
                <a:cs typeface="Open Sauce"/>
                <a:sym typeface="Open Sauce"/>
              </a:rPr>
              <a:t>Combined Description,</a:t>
            </a:r>
            <a:r>
              <a:rPr lang="en-US" sz="2199">
                <a:solidFill>
                  <a:srgbClr val="000000"/>
                </a:solidFill>
                <a:latin typeface="Open Sauce"/>
                <a:ea typeface="Open Sauce"/>
                <a:cs typeface="Open Sauce"/>
                <a:sym typeface="Open Sauce"/>
              </a:rPr>
              <a:t> Feelings, and Objects</a:t>
            </a:r>
            <a:r>
              <a:rPr lang="en-US" sz="2199">
                <a:solidFill>
                  <a:srgbClr val="000000"/>
                </a:solidFill>
                <a:latin typeface="Open Sauce"/>
                <a:ea typeface="Open Sauce"/>
                <a:cs typeface="Open Sauce"/>
                <a:sym typeface="Open Sauce"/>
              </a:rPr>
              <a:t> into a single numerical matrix.</a:t>
            </a:r>
          </a:p>
          <a:p>
            <a:pPr algn="l" marL="474979" indent="-237490" lvl="1">
              <a:lnSpc>
                <a:spcPts val="3079"/>
              </a:lnSpc>
              <a:buFont typeface="Arial"/>
              <a:buChar char="•"/>
            </a:pPr>
            <a:r>
              <a:rPr lang="en-US" sz="2199">
                <a:solidFill>
                  <a:srgbClr val="000000"/>
                </a:solidFill>
                <a:latin typeface="Open Sauce"/>
                <a:ea typeface="Open Sauce"/>
                <a:cs typeface="Open Sauce"/>
                <a:sym typeface="Open Sauce"/>
              </a:rPr>
              <a:t>Kept prefixed terms (e.g., obj_tree, feel_awe) to maintain interpretability.</a:t>
            </a:r>
          </a:p>
          <a:p>
            <a:pPr algn="l">
              <a:lnSpc>
                <a:spcPts val="3079"/>
              </a:lnSpc>
            </a:pPr>
          </a:p>
          <a:p>
            <a:pPr algn="l">
              <a:lnSpc>
                <a:spcPts val="3079"/>
              </a:lnSpc>
            </a:pPr>
            <a:r>
              <a:rPr lang="en-US" sz="2199" b="true">
                <a:solidFill>
                  <a:srgbClr val="000000"/>
                </a:solidFill>
                <a:latin typeface="Open Sauce Bold"/>
                <a:ea typeface="Open Sauce Bold"/>
                <a:cs typeface="Open Sauce Bold"/>
                <a:sym typeface="Open Sauce Bold"/>
              </a:rPr>
              <a:t>Feature Selection (maximum features in TF-IDF):</a:t>
            </a:r>
          </a:p>
          <a:p>
            <a:pPr algn="l" marL="474979" indent="-237490" lvl="1">
              <a:lnSpc>
                <a:spcPts val="3079"/>
              </a:lnSpc>
              <a:spcBef>
                <a:spcPct val="0"/>
              </a:spcBef>
              <a:buFont typeface="Arial"/>
              <a:buChar char="•"/>
            </a:pPr>
            <a:r>
              <a:rPr lang="en-US" sz="2199">
                <a:solidFill>
                  <a:srgbClr val="000000"/>
                </a:solidFill>
                <a:latin typeface="Open Sauce"/>
                <a:ea typeface="Open Sauce"/>
                <a:cs typeface="Open Sauce"/>
                <a:sym typeface="Open Sauce"/>
              </a:rPr>
              <a:t>Elbow Method: Identified the threshold where marginal AUC gain &lt;0.005 per step</a:t>
            </a:r>
          </a:p>
          <a:p>
            <a:pPr algn="l">
              <a:lnSpc>
                <a:spcPts val="307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7178294" y="2822575"/>
            <a:ext cx="10789378" cy="5340742"/>
          </a:xfrm>
          <a:custGeom>
            <a:avLst/>
            <a:gdLst/>
            <a:ahLst/>
            <a:cxnLst/>
            <a:rect r="r" b="b" t="t" l="l"/>
            <a:pathLst>
              <a:path h="5340742" w="10789378">
                <a:moveTo>
                  <a:pt x="0" y="0"/>
                </a:moveTo>
                <a:lnTo>
                  <a:pt x="10789377" y="0"/>
                </a:lnTo>
                <a:lnTo>
                  <a:pt x="10789377" y="5340742"/>
                </a:lnTo>
                <a:lnTo>
                  <a:pt x="0" y="5340742"/>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Model Selection</a:t>
            </a:r>
          </a:p>
        </p:txBody>
      </p:sp>
      <p:sp>
        <p:nvSpPr>
          <p:cNvPr name="TextBox 5" id="5"/>
          <p:cNvSpPr txBox="true"/>
          <p:nvPr/>
        </p:nvSpPr>
        <p:spPr>
          <a:xfrm rot="0">
            <a:off x="1028700" y="2937071"/>
            <a:ext cx="5611268" cy="5016500"/>
          </a:xfrm>
          <a:prstGeom prst="rect">
            <a:avLst/>
          </a:prstGeom>
        </p:spPr>
        <p:txBody>
          <a:bodyPr anchor="t" rtlCol="false" tIns="0" lIns="0" bIns="0" rIns="0">
            <a:spAutoFit/>
          </a:bodyPr>
          <a:lstStyle/>
          <a:p>
            <a:pPr algn="l" marL="539751" indent="-269876" lvl="1">
              <a:lnSpc>
                <a:spcPts val="4000"/>
              </a:lnSpc>
              <a:buFont typeface="Arial"/>
              <a:buChar char="•"/>
            </a:pPr>
            <a:r>
              <a:rPr lang="en-US" sz="2500">
                <a:solidFill>
                  <a:srgbClr val="000000"/>
                </a:solidFill>
                <a:latin typeface="Open Sauce"/>
                <a:ea typeface="Open Sauce"/>
                <a:cs typeface="Open Sauce"/>
                <a:sym typeface="Open Sauce"/>
              </a:rPr>
              <a:t>Four models and two dummys</a:t>
            </a:r>
          </a:p>
          <a:p>
            <a:pPr algn="l" marL="539751" indent="-269876" lvl="1">
              <a:lnSpc>
                <a:spcPts val="4000"/>
              </a:lnSpc>
              <a:spcBef>
                <a:spcPct val="0"/>
              </a:spcBef>
              <a:buFont typeface="Arial"/>
              <a:buChar char="•"/>
            </a:pPr>
            <a:r>
              <a:rPr lang="en-US" sz="2500">
                <a:solidFill>
                  <a:srgbClr val="000000"/>
                </a:solidFill>
                <a:latin typeface="Open Sauce"/>
                <a:ea typeface="Open Sauce"/>
                <a:cs typeface="Open Sauce"/>
                <a:sym typeface="Open Sauce"/>
              </a:rPr>
              <a:t>W</a:t>
            </a:r>
            <a:r>
              <a:rPr lang="en-US" sz="2500" strike="noStrike" u="none">
                <a:solidFill>
                  <a:srgbClr val="000000"/>
                </a:solidFill>
                <a:latin typeface="Open Sauce"/>
                <a:ea typeface="Open Sauce"/>
                <a:cs typeface="Open Sauce"/>
                <a:sym typeface="Open Sauce"/>
              </a:rPr>
              <a:t>e compared three model families, selected L2 Logistic Regression based on CV performance</a:t>
            </a:r>
          </a:p>
          <a:p>
            <a:pPr algn="l" marL="539751" indent="-269876" lvl="1">
              <a:lnSpc>
                <a:spcPts val="4000"/>
              </a:lnSpc>
              <a:spcBef>
                <a:spcPct val="0"/>
              </a:spcBef>
              <a:buFont typeface="Arial"/>
              <a:buChar char="•"/>
            </a:pPr>
            <a:r>
              <a:rPr lang="en-US" sz="2500" strike="noStrike" u="none">
                <a:solidFill>
                  <a:srgbClr val="000000"/>
                </a:solidFill>
                <a:latin typeface="Open Sauce"/>
                <a:ea typeface="Open Sauce"/>
                <a:cs typeface="Open Sauce"/>
                <a:sym typeface="Open Sauce"/>
              </a:rPr>
              <a:t>Other models that were not compared: </a:t>
            </a:r>
          </a:p>
          <a:p>
            <a:pPr algn="l" marL="1079502" indent="-359834" lvl="2">
              <a:lnSpc>
                <a:spcPts val="4000"/>
              </a:lnSpc>
              <a:spcBef>
                <a:spcPct val="0"/>
              </a:spcBef>
              <a:buFont typeface="Arial"/>
              <a:buChar char="⚬"/>
            </a:pPr>
            <a:r>
              <a:rPr lang="en-US" sz="2500" strike="noStrike" u="none">
                <a:solidFill>
                  <a:srgbClr val="000000"/>
                </a:solidFill>
                <a:latin typeface="Open Sauce"/>
                <a:ea typeface="Open Sauce"/>
                <a:cs typeface="Open Sauce"/>
                <a:sym typeface="Open Sauce"/>
              </a:rPr>
              <a:t>KNN - not working well for high-dimensional data</a:t>
            </a:r>
          </a:p>
          <a:p>
            <a:pPr algn="l">
              <a:lnSpc>
                <a:spcPts val="400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6205887" y="1578720"/>
            <a:ext cx="11889754" cy="8426863"/>
          </a:xfrm>
          <a:custGeom>
            <a:avLst/>
            <a:gdLst/>
            <a:ahLst/>
            <a:cxnLst/>
            <a:rect r="r" b="b" t="t" l="l"/>
            <a:pathLst>
              <a:path h="8426863" w="11889754">
                <a:moveTo>
                  <a:pt x="0" y="0"/>
                </a:moveTo>
                <a:lnTo>
                  <a:pt x="11889754" y="0"/>
                </a:lnTo>
                <a:lnTo>
                  <a:pt x="11889754" y="8426864"/>
                </a:lnTo>
                <a:lnTo>
                  <a:pt x="0" y="8426864"/>
                </a:lnTo>
                <a:lnTo>
                  <a:pt x="0" y="0"/>
                </a:lnTo>
                <a:close/>
              </a:path>
            </a:pathLst>
          </a:custGeom>
          <a:blipFill>
            <a:blip r:embed="rId2"/>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Model Selection</a:t>
            </a:r>
          </a:p>
        </p:txBody>
      </p:sp>
      <p:sp>
        <p:nvSpPr>
          <p:cNvPr name="TextBox 5" id="5"/>
          <p:cNvSpPr txBox="true"/>
          <p:nvPr/>
        </p:nvSpPr>
        <p:spPr>
          <a:xfrm rot="0">
            <a:off x="1028700" y="3456896"/>
            <a:ext cx="4625922" cy="3693159"/>
          </a:xfrm>
          <a:prstGeom prst="rect">
            <a:avLst/>
          </a:prstGeom>
        </p:spPr>
        <p:txBody>
          <a:bodyPr anchor="t" rtlCol="false" tIns="0" lIns="0" bIns="0" rIns="0">
            <a:spAutoFit/>
          </a:bodyPr>
          <a:lstStyle/>
          <a:p>
            <a:pPr algn="l" marL="496572" indent="-248286" lvl="1">
              <a:lnSpc>
                <a:spcPts val="3680"/>
              </a:lnSpc>
              <a:spcBef>
                <a:spcPct val="0"/>
              </a:spcBef>
              <a:buFont typeface="Arial"/>
              <a:buChar char="•"/>
            </a:pPr>
            <a:r>
              <a:rPr lang="en-US" sz="2300" strike="noStrike" u="none">
                <a:solidFill>
                  <a:srgbClr val="000000"/>
                </a:solidFill>
                <a:latin typeface="Open Sauce"/>
                <a:ea typeface="Open Sauce"/>
                <a:cs typeface="Open Sauce"/>
                <a:sym typeface="Open Sauce"/>
              </a:rPr>
              <a:t>ROC curve per model, for each emotion</a:t>
            </a:r>
          </a:p>
          <a:p>
            <a:pPr algn="l" marL="496572" indent="-248286" lvl="1">
              <a:lnSpc>
                <a:spcPts val="3680"/>
              </a:lnSpc>
              <a:spcBef>
                <a:spcPct val="0"/>
              </a:spcBef>
              <a:buFont typeface="Arial"/>
              <a:buChar char="•"/>
            </a:pPr>
            <a:r>
              <a:rPr lang="en-US" sz="2300" strike="noStrike" u="none">
                <a:solidFill>
                  <a:srgbClr val="000000"/>
                </a:solidFill>
                <a:latin typeface="Open Sauce"/>
                <a:ea typeface="Open Sauce"/>
                <a:cs typeface="Open Sauce"/>
                <a:sym typeface="Open Sauce"/>
              </a:rPr>
              <a:t>Selecting the one with the best AUC averaged across emotions </a:t>
            </a:r>
          </a:p>
          <a:p>
            <a:pPr algn="l" marL="496572" indent="-248286" lvl="1">
              <a:lnSpc>
                <a:spcPts val="3680"/>
              </a:lnSpc>
              <a:spcBef>
                <a:spcPct val="0"/>
              </a:spcBef>
              <a:buFont typeface="Arial"/>
              <a:buChar char="•"/>
            </a:pPr>
            <a:r>
              <a:rPr lang="en-US" sz="2300" strike="noStrike" u="none">
                <a:solidFill>
                  <a:srgbClr val="000000"/>
                </a:solidFill>
                <a:latin typeface="Open Sauce"/>
                <a:ea typeface="Open Sauce"/>
                <a:cs typeface="Open Sauce"/>
                <a:sym typeface="Open Sauce"/>
              </a:rPr>
              <a:t>A</a:t>
            </a:r>
            <a:r>
              <a:rPr lang="en-US" sz="2300" strike="noStrike" u="none">
                <a:solidFill>
                  <a:srgbClr val="000000"/>
                </a:solidFill>
                <a:latin typeface="Open Sauce"/>
                <a:ea typeface="Open Sauce"/>
                <a:cs typeface="Open Sauce"/>
                <a:sym typeface="Open Sauce"/>
              </a:rPr>
              <a:t>ll models preformed well (over 80%), LR (L2) performed best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1423444" y="2588370"/>
            <a:ext cx="15441112" cy="7585446"/>
          </a:xfrm>
          <a:custGeom>
            <a:avLst/>
            <a:gdLst/>
            <a:ahLst/>
            <a:cxnLst/>
            <a:rect r="r" b="b" t="t" l="l"/>
            <a:pathLst>
              <a:path h="7585446" w="15441112">
                <a:moveTo>
                  <a:pt x="0" y="0"/>
                </a:moveTo>
                <a:lnTo>
                  <a:pt x="15441112" y="0"/>
                </a:lnTo>
                <a:lnTo>
                  <a:pt x="15441112" y="7585446"/>
                </a:lnTo>
                <a:lnTo>
                  <a:pt x="0" y="7585446"/>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Feature Importance</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SHAP values by Emotion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1423444" y="2588370"/>
            <a:ext cx="15441112" cy="7585446"/>
          </a:xfrm>
          <a:custGeom>
            <a:avLst/>
            <a:gdLst/>
            <a:ahLst/>
            <a:cxnLst/>
            <a:rect r="r" b="b" t="t" l="l"/>
            <a:pathLst>
              <a:path h="7585446" w="15441112">
                <a:moveTo>
                  <a:pt x="0" y="0"/>
                </a:moveTo>
                <a:lnTo>
                  <a:pt x="15441112" y="0"/>
                </a:lnTo>
                <a:lnTo>
                  <a:pt x="15441112" y="7585446"/>
                </a:lnTo>
                <a:lnTo>
                  <a:pt x="0" y="7585446"/>
                </a:lnTo>
                <a:lnTo>
                  <a:pt x="0" y="0"/>
                </a:lnTo>
                <a:close/>
              </a:path>
            </a:pathLst>
          </a:custGeom>
          <a:blipFill>
            <a:blip r:embed="rId3"/>
            <a:stretch>
              <a:fillRect l="0" t="0" r="0" b="0"/>
            </a:stretch>
          </a:blipFill>
        </p:spPr>
      </p:sp>
      <p:grpSp>
        <p:nvGrpSpPr>
          <p:cNvPr name="Group 4" id="4"/>
          <p:cNvGrpSpPr/>
          <p:nvPr/>
        </p:nvGrpSpPr>
        <p:grpSpPr>
          <a:xfrm rot="0">
            <a:off x="2196935" y="3191795"/>
            <a:ext cx="2654532" cy="631467"/>
            <a:chOff x="0" y="0"/>
            <a:chExt cx="699136" cy="166312"/>
          </a:xfrm>
        </p:grpSpPr>
        <p:sp>
          <p:nvSpPr>
            <p:cNvPr name="Freeform 5" id="5"/>
            <p:cNvSpPr/>
            <p:nvPr/>
          </p:nvSpPr>
          <p:spPr>
            <a:xfrm flipH="false" flipV="false" rot="0">
              <a:off x="0" y="0"/>
              <a:ext cx="699136" cy="166312"/>
            </a:xfrm>
            <a:custGeom>
              <a:avLst/>
              <a:gdLst/>
              <a:ahLst/>
              <a:cxnLst/>
              <a:rect r="r" b="b" t="t" l="l"/>
              <a:pathLst>
                <a:path h="166312" w="699136">
                  <a:moveTo>
                    <a:pt x="0" y="0"/>
                  </a:moveTo>
                  <a:lnTo>
                    <a:pt x="699136" y="0"/>
                  </a:lnTo>
                  <a:lnTo>
                    <a:pt x="699136" y="166312"/>
                  </a:lnTo>
                  <a:lnTo>
                    <a:pt x="0" y="166312"/>
                  </a:lnTo>
                  <a:close/>
                </a:path>
              </a:pathLst>
            </a:custGeom>
            <a:ln w="38100" cap="sq">
              <a:solidFill>
                <a:srgbClr val="FFDE59"/>
              </a:solidFill>
              <a:prstDash val="solid"/>
              <a:miter/>
            </a:ln>
          </p:spPr>
        </p:sp>
        <p:sp>
          <p:nvSpPr>
            <p:cNvPr name="TextBox 6" id="6"/>
            <p:cNvSpPr txBox="true"/>
            <p:nvPr/>
          </p:nvSpPr>
          <p:spPr>
            <a:xfrm>
              <a:off x="0" y="-38100"/>
              <a:ext cx="699136" cy="204412"/>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Feature Importance</a:t>
            </a:r>
          </a:p>
        </p:txBody>
      </p:sp>
      <p:sp>
        <p:nvSpPr>
          <p:cNvPr name="TextBox 8" id="8"/>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SHAP values by Emotion</a:t>
            </a:r>
          </a:p>
        </p:txBody>
      </p:sp>
      <p:grpSp>
        <p:nvGrpSpPr>
          <p:cNvPr name="Group 9" id="9"/>
          <p:cNvGrpSpPr/>
          <p:nvPr/>
        </p:nvGrpSpPr>
        <p:grpSpPr>
          <a:xfrm rot="0">
            <a:off x="9820828" y="3191795"/>
            <a:ext cx="2654532" cy="631467"/>
            <a:chOff x="0" y="0"/>
            <a:chExt cx="699136" cy="166312"/>
          </a:xfrm>
        </p:grpSpPr>
        <p:sp>
          <p:nvSpPr>
            <p:cNvPr name="Freeform 10" id="10"/>
            <p:cNvSpPr/>
            <p:nvPr/>
          </p:nvSpPr>
          <p:spPr>
            <a:xfrm flipH="false" flipV="false" rot="0">
              <a:off x="0" y="0"/>
              <a:ext cx="699136" cy="166312"/>
            </a:xfrm>
            <a:custGeom>
              <a:avLst/>
              <a:gdLst/>
              <a:ahLst/>
              <a:cxnLst/>
              <a:rect r="r" b="b" t="t" l="l"/>
              <a:pathLst>
                <a:path h="166312" w="699136">
                  <a:moveTo>
                    <a:pt x="0" y="0"/>
                  </a:moveTo>
                  <a:lnTo>
                    <a:pt x="699136" y="0"/>
                  </a:lnTo>
                  <a:lnTo>
                    <a:pt x="699136" y="166312"/>
                  </a:lnTo>
                  <a:lnTo>
                    <a:pt x="0" y="166312"/>
                  </a:lnTo>
                  <a:close/>
                </a:path>
              </a:pathLst>
            </a:custGeom>
            <a:ln w="38100" cap="sq">
              <a:solidFill>
                <a:srgbClr val="FFDE59"/>
              </a:solidFill>
              <a:prstDash val="solid"/>
              <a:miter/>
            </a:ln>
          </p:spPr>
        </p:sp>
        <p:sp>
          <p:nvSpPr>
            <p:cNvPr name="TextBox 11" id="11"/>
            <p:cNvSpPr txBox="true"/>
            <p:nvPr/>
          </p:nvSpPr>
          <p:spPr>
            <a:xfrm>
              <a:off x="0" y="-38100"/>
              <a:ext cx="699136" cy="204412"/>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559738" y="3191795"/>
            <a:ext cx="2654532" cy="379945"/>
            <a:chOff x="0" y="0"/>
            <a:chExt cx="699136" cy="100068"/>
          </a:xfrm>
        </p:grpSpPr>
        <p:sp>
          <p:nvSpPr>
            <p:cNvPr name="Freeform 13" id="13"/>
            <p:cNvSpPr/>
            <p:nvPr/>
          </p:nvSpPr>
          <p:spPr>
            <a:xfrm flipH="false" flipV="false" rot="0">
              <a:off x="0" y="0"/>
              <a:ext cx="699136" cy="100068"/>
            </a:xfrm>
            <a:custGeom>
              <a:avLst/>
              <a:gdLst/>
              <a:ahLst/>
              <a:cxnLst/>
              <a:rect r="r" b="b" t="t" l="l"/>
              <a:pathLst>
                <a:path h="100068" w="699136">
                  <a:moveTo>
                    <a:pt x="0" y="0"/>
                  </a:moveTo>
                  <a:lnTo>
                    <a:pt x="699136" y="0"/>
                  </a:lnTo>
                  <a:lnTo>
                    <a:pt x="699136" y="100068"/>
                  </a:lnTo>
                  <a:lnTo>
                    <a:pt x="0" y="100068"/>
                  </a:lnTo>
                  <a:close/>
                </a:path>
              </a:pathLst>
            </a:custGeom>
            <a:ln w="38100" cap="sq">
              <a:solidFill>
                <a:srgbClr val="FFDE59"/>
              </a:solidFill>
              <a:prstDash val="solid"/>
              <a:miter/>
            </a:ln>
          </p:spPr>
        </p:sp>
        <p:sp>
          <p:nvSpPr>
            <p:cNvPr name="TextBox 14" id="14"/>
            <p:cNvSpPr txBox="true"/>
            <p:nvPr/>
          </p:nvSpPr>
          <p:spPr>
            <a:xfrm>
              <a:off x="0" y="-38100"/>
              <a:ext cx="699136" cy="13816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3559738" y="6809602"/>
            <a:ext cx="2654532" cy="379945"/>
            <a:chOff x="0" y="0"/>
            <a:chExt cx="699136" cy="100068"/>
          </a:xfrm>
        </p:grpSpPr>
        <p:sp>
          <p:nvSpPr>
            <p:cNvPr name="Freeform 16" id="16"/>
            <p:cNvSpPr/>
            <p:nvPr/>
          </p:nvSpPr>
          <p:spPr>
            <a:xfrm flipH="false" flipV="false" rot="0">
              <a:off x="0" y="0"/>
              <a:ext cx="699136" cy="100068"/>
            </a:xfrm>
            <a:custGeom>
              <a:avLst/>
              <a:gdLst/>
              <a:ahLst/>
              <a:cxnLst/>
              <a:rect r="r" b="b" t="t" l="l"/>
              <a:pathLst>
                <a:path h="100068" w="699136">
                  <a:moveTo>
                    <a:pt x="0" y="0"/>
                  </a:moveTo>
                  <a:lnTo>
                    <a:pt x="699136" y="0"/>
                  </a:lnTo>
                  <a:lnTo>
                    <a:pt x="699136" y="100068"/>
                  </a:lnTo>
                  <a:lnTo>
                    <a:pt x="0" y="100068"/>
                  </a:lnTo>
                  <a:close/>
                </a:path>
              </a:pathLst>
            </a:custGeom>
            <a:ln w="38100" cap="sq">
              <a:solidFill>
                <a:srgbClr val="FFDE59"/>
              </a:solidFill>
              <a:prstDash val="solid"/>
              <a:miter/>
            </a:ln>
          </p:spPr>
        </p:sp>
        <p:sp>
          <p:nvSpPr>
            <p:cNvPr name="TextBox 17" id="17"/>
            <p:cNvSpPr txBox="true"/>
            <p:nvPr/>
          </p:nvSpPr>
          <p:spPr>
            <a:xfrm>
              <a:off x="0" y="-38100"/>
              <a:ext cx="699136" cy="138168"/>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9820828" y="6809602"/>
            <a:ext cx="2654532" cy="631467"/>
            <a:chOff x="0" y="0"/>
            <a:chExt cx="699136" cy="166312"/>
          </a:xfrm>
        </p:grpSpPr>
        <p:sp>
          <p:nvSpPr>
            <p:cNvPr name="Freeform 19" id="19"/>
            <p:cNvSpPr/>
            <p:nvPr/>
          </p:nvSpPr>
          <p:spPr>
            <a:xfrm flipH="false" flipV="false" rot="0">
              <a:off x="0" y="0"/>
              <a:ext cx="699136" cy="166312"/>
            </a:xfrm>
            <a:custGeom>
              <a:avLst/>
              <a:gdLst/>
              <a:ahLst/>
              <a:cxnLst/>
              <a:rect r="r" b="b" t="t" l="l"/>
              <a:pathLst>
                <a:path h="166312" w="699136">
                  <a:moveTo>
                    <a:pt x="0" y="0"/>
                  </a:moveTo>
                  <a:lnTo>
                    <a:pt x="699136" y="0"/>
                  </a:lnTo>
                  <a:lnTo>
                    <a:pt x="699136" y="166312"/>
                  </a:lnTo>
                  <a:lnTo>
                    <a:pt x="0" y="166312"/>
                  </a:lnTo>
                  <a:close/>
                </a:path>
              </a:pathLst>
            </a:custGeom>
            <a:ln w="38100" cap="sq">
              <a:solidFill>
                <a:srgbClr val="FFDE59"/>
              </a:solidFill>
              <a:prstDash val="solid"/>
              <a:miter/>
            </a:ln>
          </p:spPr>
        </p:sp>
        <p:sp>
          <p:nvSpPr>
            <p:cNvPr name="TextBox 20" id="20"/>
            <p:cNvSpPr txBox="true"/>
            <p:nvPr/>
          </p:nvSpPr>
          <p:spPr>
            <a:xfrm>
              <a:off x="0" y="-38100"/>
              <a:ext cx="699136" cy="204412"/>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2196935" y="7087236"/>
            <a:ext cx="2654532" cy="631467"/>
            <a:chOff x="0" y="0"/>
            <a:chExt cx="699136" cy="166312"/>
          </a:xfrm>
        </p:grpSpPr>
        <p:sp>
          <p:nvSpPr>
            <p:cNvPr name="Freeform 22" id="22"/>
            <p:cNvSpPr/>
            <p:nvPr/>
          </p:nvSpPr>
          <p:spPr>
            <a:xfrm flipH="false" flipV="false" rot="0">
              <a:off x="0" y="0"/>
              <a:ext cx="699136" cy="166312"/>
            </a:xfrm>
            <a:custGeom>
              <a:avLst/>
              <a:gdLst/>
              <a:ahLst/>
              <a:cxnLst/>
              <a:rect r="r" b="b" t="t" l="l"/>
              <a:pathLst>
                <a:path h="166312" w="699136">
                  <a:moveTo>
                    <a:pt x="0" y="0"/>
                  </a:moveTo>
                  <a:lnTo>
                    <a:pt x="699136" y="0"/>
                  </a:lnTo>
                  <a:lnTo>
                    <a:pt x="699136" y="166312"/>
                  </a:lnTo>
                  <a:lnTo>
                    <a:pt x="0" y="166312"/>
                  </a:lnTo>
                  <a:close/>
                </a:path>
              </a:pathLst>
            </a:custGeom>
            <a:ln w="38100" cap="sq">
              <a:solidFill>
                <a:srgbClr val="FFDE59"/>
              </a:solidFill>
              <a:prstDash val="solid"/>
              <a:miter/>
            </a:ln>
          </p:spPr>
        </p:sp>
        <p:sp>
          <p:nvSpPr>
            <p:cNvPr name="TextBox 23" id="23"/>
            <p:cNvSpPr txBox="true"/>
            <p:nvPr/>
          </p:nvSpPr>
          <p:spPr>
            <a:xfrm>
              <a:off x="0" y="-38100"/>
              <a:ext cx="699136" cy="204412"/>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0">
            <a:off x="5952234" y="6809602"/>
            <a:ext cx="2654532" cy="379945"/>
            <a:chOff x="0" y="0"/>
            <a:chExt cx="699136" cy="100068"/>
          </a:xfrm>
        </p:grpSpPr>
        <p:sp>
          <p:nvSpPr>
            <p:cNvPr name="Freeform 25" id="25"/>
            <p:cNvSpPr/>
            <p:nvPr/>
          </p:nvSpPr>
          <p:spPr>
            <a:xfrm flipH="false" flipV="false" rot="0">
              <a:off x="0" y="0"/>
              <a:ext cx="699136" cy="100068"/>
            </a:xfrm>
            <a:custGeom>
              <a:avLst/>
              <a:gdLst/>
              <a:ahLst/>
              <a:cxnLst/>
              <a:rect r="r" b="b" t="t" l="l"/>
              <a:pathLst>
                <a:path h="100068" w="699136">
                  <a:moveTo>
                    <a:pt x="0" y="0"/>
                  </a:moveTo>
                  <a:lnTo>
                    <a:pt x="699136" y="0"/>
                  </a:lnTo>
                  <a:lnTo>
                    <a:pt x="699136" y="100068"/>
                  </a:lnTo>
                  <a:lnTo>
                    <a:pt x="0" y="100068"/>
                  </a:lnTo>
                  <a:close/>
                </a:path>
              </a:pathLst>
            </a:custGeom>
            <a:ln w="38100" cap="sq">
              <a:solidFill>
                <a:srgbClr val="FFDE59"/>
              </a:solidFill>
              <a:prstDash val="solid"/>
              <a:miter/>
            </a:ln>
          </p:spPr>
        </p:sp>
        <p:sp>
          <p:nvSpPr>
            <p:cNvPr name="TextBox 26" id="26"/>
            <p:cNvSpPr txBox="true"/>
            <p:nvPr/>
          </p:nvSpPr>
          <p:spPr>
            <a:xfrm>
              <a:off x="0" y="-38100"/>
              <a:ext cx="699136" cy="13816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1423444" y="2588370"/>
            <a:ext cx="15441112" cy="7585446"/>
          </a:xfrm>
          <a:custGeom>
            <a:avLst/>
            <a:gdLst/>
            <a:ahLst/>
            <a:cxnLst/>
            <a:rect r="r" b="b" t="t" l="l"/>
            <a:pathLst>
              <a:path h="7585446" w="15441112">
                <a:moveTo>
                  <a:pt x="0" y="0"/>
                </a:moveTo>
                <a:lnTo>
                  <a:pt x="15441112" y="0"/>
                </a:lnTo>
                <a:lnTo>
                  <a:pt x="15441112" y="7585446"/>
                </a:lnTo>
                <a:lnTo>
                  <a:pt x="0" y="7585446"/>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Feature Importance</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SHAP values by Emotion</a:t>
            </a:r>
          </a:p>
        </p:txBody>
      </p:sp>
      <p:grpSp>
        <p:nvGrpSpPr>
          <p:cNvPr name="Group 6" id="6"/>
          <p:cNvGrpSpPr/>
          <p:nvPr/>
        </p:nvGrpSpPr>
        <p:grpSpPr>
          <a:xfrm rot="0">
            <a:off x="9820828" y="3770170"/>
            <a:ext cx="2654532" cy="315733"/>
            <a:chOff x="0" y="0"/>
            <a:chExt cx="699136" cy="83156"/>
          </a:xfrm>
        </p:grpSpPr>
        <p:sp>
          <p:nvSpPr>
            <p:cNvPr name="Freeform 7" id="7"/>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8" id="8"/>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5733159" y="7096761"/>
            <a:ext cx="2654532" cy="379945"/>
            <a:chOff x="0" y="0"/>
            <a:chExt cx="699136" cy="100068"/>
          </a:xfrm>
        </p:grpSpPr>
        <p:sp>
          <p:nvSpPr>
            <p:cNvPr name="Freeform 10" id="10"/>
            <p:cNvSpPr/>
            <p:nvPr/>
          </p:nvSpPr>
          <p:spPr>
            <a:xfrm flipH="false" flipV="false" rot="0">
              <a:off x="0" y="0"/>
              <a:ext cx="699136" cy="100068"/>
            </a:xfrm>
            <a:custGeom>
              <a:avLst/>
              <a:gdLst/>
              <a:ahLst/>
              <a:cxnLst/>
              <a:rect r="r" b="b" t="t" l="l"/>
              <a:pathLst>
                <a:path h="100068" w="699136">
                  <a:moveTo>
                    <a:pt x="0" y="0"/>
                  </a:moveTo>
                  <a:lnTo>
                    <a:pt x="699136" y="0"/>
                  </a:lnTo>
                  <a:lnTo>
                    <a:pt x="699136" y="100068"/>
                  </a:lnTo>
                  <a:lnTo>
                    <a:pt x="0" y="100068"/>
                  </a:lnTo>
                  <a:close/>
                </a:path>
              </a:pathLst>
            </a:custGeom>
            <a:ln w="38100" cap="sq">
              <a:solidFill>
                <a:srgbClr val="FFDE59"/>
              </a:solidFill>
              <a:prstDash val="solid"/>
              <a:miter/>
            </a:ln>
          </p:spPr>
        </p:sp>
        <p:sp>
          <p:nvSpPr>
            <p:cNvPr name="TextBox 11" id="11"/>
            <p:cNvSpPr txBox="true"/>
            <p:nvPr/>
          </p:nvSpPr>
          <p:spPr>
            <a:xfrm>
              <a:off x="0" y="-38100"/>
              <a:ext cx="699136" cy="138168"/>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853723" y="8811832"/>
            <a:ext cx="2654532" cy="315733"/>
            <a:chOff x="0" y="0"/>
            <a:chExt cx="699136" cy="83156"/>
          </a:xfrm>
        </p:grpSpPr>
        <p:sp>
          <p:nvSpPr>
            <p:cNvPr name="Freeform 13" id="13"/>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14" id="14"/>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1423444" y="2588370"/>
            <a:ext cx="15441112" cy="7585446"/>
          </a:xfrm>
          <a:custGeom>
            <a:avLst/>
            <a:gdLst/>
            <a:ahLst/>
            <a:cxnLst/>
            <a:rect r="r" b="b" t="t" l="l"/>
            <a:pathLst>
              <a:path h="7585446" w="15441112">
                <a:moveTo>
                  <a:pt x="0" y="0"/>
                </a:moveTo>
                <a:lnTo>
                  <a:pt x="15441112" y="0"/>
                </a:lnTo>
                <a:lnTo>
                  <a:pt x="15441112" y="7585446"/>
                </a:lnTo>
                <a:lnTo>
                  <a:pt x="0" y="7585446"/>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Feature Importance</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SHAP values by Emotion</a:t>
            </a:r>
          </a:p>
        </p:txBody>
      </p:sp>
      <p:grpSp>
        <p:nvGrpSpPr>
          <p:cNvPr name="Group 6" id="6"/>
          <p:cNvGrpSpPr/>
          <p:nvPr/>
        </p:nvGrpSpPr>
        <p:grpSpPr>
          <a:xfrm rot="0">
            <a:off x="13509376" y="3770170"/>
            <a:ext cx="2654532" cy="315733"/>
            <a:chOff x="0" y="0"/>
            <a:chExt cx="699136" cy="83156"/>
          </a:xfrm>
        </p:grpSpPr>
        <p:sp>
          <p:nvSpPr>
            <p:cNvPr name="Freeform 7" id="7"/>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8" id="8"/>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123617" y="3770170"/>
            <a:ext cx="2654532" cy="315733"/>
            <a:chOff x="0" y="0"/>
            <a:chExt cx="699136" cy="83156"/>
          </a:xfrm>
        </p:grpSpPr>
        <p:sp>
          <p:nvSpPr>
            <p:cNvPr name="Freeform 10" id="10"/>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11" id="11"/>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5733159" y="3770170"/>
            <a:ext cx="2654532" cy="315733"/>
            <a:chOff x="0" y="0"/>
            <a:chExt cx="699136" cy="83156"/>
          </a:xfrm>
        </p:grpSpPr>
        <p:sp>
          <p:nvSpPr>
            <p:cNvPr name="Freeform 13" id="13"/>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14" id="14"/>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2123617" y="7970977"/>
            <a:ext cx="2654532" cy="315733"/>
            <a:chOff x="0" y="0"/>
            <a:chExt cx="699136" cy="83156"/>
          </a:xfrm>
        </p:grpSpPr>
        <p:sp>
          <p:nvSpPr>
            <p:cNvPr name="Freeform 16" id="16"/>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17" id="17"/>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5733159" y="7655244"/>
            <a:ext cx="2654532" cy="315733"/>
            <a:chOff x="0" y="0"/>
            <a:chExt cx="699136" cy="83156"/>
          </a:xfrm>
        </p:grpSpPr>
        <p:sp>
          <p:nvSpPr>
            <p:cNvPr name="Freeform 19" id="19"/>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20" id="20"/>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9782800" y="8235913"/>
            <a:ext cx="2654532" cy="315733"/>
            <a:chOff x="0" y="0"/>
            <a:chExt cx="699136" cy="83156"/>
          </a:xfrm>
        </p:grpSpPr>
        <p:sp>
          <p:nvSpPr>
            <p:cNvPr name="Freeform 22" id="22"/>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23" id="23"/>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0">
            <a:off x="13509376" y="8235913"/>
            <a:ext cx="2654532" cy="315733"/>
            <a:chOff x="0" y="0"/>
            <a:chExt cx="699136" cy="83156"/>
          </a:xfrm>
        </p:grpSpPr>
        <p:sp>
          <p:nvSpPr>
            <p:cNvPr name="Freeform 25" id="25"/>
            <p:cNvSpPr/>
            <p:nvPr/>
          </p:nvSpPr>
          <p:spPr>
            <a:xfrm flipH="false" flipV="false" rot="0">
              <a:off x="0" y="0"/>
              <a:ext cx="699136" cy="83156"/>
            </a:xfrm>
            <a:custGeom>
              <a:avLst/>
              <a:gdLst/>
              <a:ahLst/>
              <a:cxnLst/>
              <a:rect r="r" b="b" t="t" l="l"/>
              <a:pathLst>
                <a:path h="83156" w="699136">
                  <a:moveTo>
                    <a:pt x="0" y="0"/>
                  </a:moveTo>
                  <a:lnTo>
                    <a:pt x="699136" y="0"/>
                  </a:lnTo>
                  <a:lnTo>
                    <a:pt x="699136" y="83156"/>
                  </a:lnTo>
                  <a:lnTo>
                    <a:pt x="0" y="83156"/>
                  </a:lnTo>
                  <a:close/>
                </a:path>
              </a:pathLst>
            </a:custGeom>
            <a:ln w="38100" cap="sq">
              <a:solidFill>
                <a:srgbClr val="FFDE59"/>
              </a:solidFill>
              <a:prstDash val="solid"/>
              <a:miter/>
            </a:ln>
          </p:spPr>
        </p:sp>
        <p:sp>
          <p:nvSpPr>
            <p:cNvPr name="TextBox 26" id="26"/>
            <p:cNvSpPr txBox="true"/>
            <p:nvPr/>
          </p:nvSpPr>
          <p:spPr>
            <a:xfrm>
              <a:off x="0" y="-38100"/>
              <a:ext cx="699136" cy="121256"/>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7560993" y="3079442"/>
            <a:ext cx="10569459" cy="6302040"/>
          </a:xfrm>
          <a:custGeom>
            <a:avLst/>
            <a:gdLst/>
            <a:ahLst/>
            <a:cxnLst/>
            <a:rect r="r" b="b" t="t" l="l"/>
            <a:pathLst>
              <a:path h="6302040" w="10569459">
                <a:moveTo>
                  <a:pt x="0" y="0"/>
                </a:moveTo>
                <a:lnTo>
                  <a:pt x="10569459" y="0"/>
                </a:lnTo>
                <a:lnTo>
                  <a:pt x="10569459" y="6302040"/>
                </a:lnTo>
                <a:lnTo>
                  <a:pt x="0" y="6302040"/>
                </a:lnTo>
                <a:lnTo>
                  <a:pt x="0" y="0"/>
                </a:lnTo>
                <a:close/>
              </a:path>
            </a:pathLst>
          </a:custGeom>
          <a:blipFill>
            <a:blip r:embed="rId2"/>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Feature Importance</a:t>
            </a:r>
          </a:p>
        </p:txBody>
      </p:sp>
      <p:sp>
        <p:nvSpPr>
          <p:cNvPr name="TextBox 5" id="5"/>
          <p:cNvSpPr txBox="true"/>
          <p:nvPr/>
        </p:nvSpPr>
        <p:spPr>
          <a:xfrm rot="0">
            <a:off x="1028700" y="3281522"/>
            <a:ext cx="6340864" cy="5802630"/>
          </a:xfrm>
          <a:prstGeom prst="rect">
            <a:avLst/>
          </a:prstGeom>
        </p:spPr>
        <p:txBody>
          <a:bodyPr anchor="t" rtlCol="false" tIns="0" lIns="0" bIns="0" rIns="0">
            <a:spAutoFit/>
          </a:bodyPr>
          <a:lstStyle/>
          <a:p>
            <a:pPr algn="l">
              <a:lnSpc>
                <a:spcPts val="3840"/>
              </a:lnSpc>
              <a:spcBef>
                <a:spcPct val="0"/>
              </a:spcBef>
            </a:pPr>
            <a:r>
              <a:rPr lang="en-US" sz="2400" strike="noStrike" u="none">
                <a:solidFill>
                  <a:srgbClr val="000000"/>
                </a:solidFill>
                <a:latin typeface="Open Sauce"/>
                <a:ea typeface="Open Sauce"/>
                <a:cs typeface="Open Sauce"/>
                <a:sym typeface="Open Sauce"/>
              </a:rPr>
              <a:t>Model type - Logistic Regression (L2)</a:t>
            </a:r>
          </a:p>
          <a:p>
            <a:pPr algn="l">
              <a:lnSpc>
                <a:spcPts val="3840"/>
              </a:lnSpc>
              <a:spcBef>
                <a:spcPct val="0"/>
              </a:spcBef>
            </a:pPr>
            <a:r>
              <a:rPr lang="en-US" sz="2400" strike="noStrike" u="none">
                <a:solidFill>
                  <a:srgbClr val="000000"/>
                </a:solidFill>
                <a:latin typeface="Open Sauce"/>
                <a:ea typeface="Open Sauce"/>
                <a:cs typeface="Open Sauce"/>
                <a:sym typeface="Open Sauce"/>
              </a:rPr>
              <a:t>Interpertation:</a:t>
            </a:r>
          </a:p>
          <a:p>
            <a:pPr algn="l" marL="518162" indent="-259081" lvl="1">
              <a:lnSpc>
                <a:spcPts val="3840"/>
              </a:lnSpc>
              <a:spcBef>
                <a:spcPct val="0"/>
              </a:spcBef>
              <a:buFont typeface="Arial"/>
              <a:buChar char="•"/>
            </a:pPr>
            <a:r>
              <a:rPr lang="en-US" b="true" sz="2400" strike="noStrike" u="none">
                <a:solidFill>
                  <a:srgbClr val="000000"/>
                </a:solidFill>
                <a:latin typeface="Open Sauce Bold"/>
                <a:ea typeface="Open Sauce Bold"/>
                <a:cs typeface="Open Sauce Bold"/>
                <a:sym typeface="Open Sauce Bold"/>
              </a:rPr>
              <a:t>Colorfulness </a:t>
            </a:r>
            <a:r>
              <a:rPr lang="en-US" sz="2400" strike="noStrike" u="none">
                <a:solidFill>
                  <a:srgbClr val="000000"/>
                </a:solidFill>
                <a:latin typeface="Open Sauce"/>
                <a:ea typeface="Open Sauce"/>
                <a:cs typeface="Open Sauce"/>
                <a:sym typeface="Open Sauce"/>
              </a:rPr>
              <a:t>and </a:t>
            </a:r>
            <a:r>
              <a:rPr lang="en-US" b="true" sz="2400" strike="noStrike" u="none">
                <a:solidFill>
                  <a:srgbClr val="000000"/>
                </a:solidFill>
                <a:latin typeface="Open Sauce Bold"/>
                <a:ea typeface="Open Sauce Bold"/>
                <a:cs typeface="Open Sauce Bold"/>
                <a:sym typeface="Open Sauce Bold"/>
              </a:rPr>
              <a:t>brightness </a:t>
            </a:r>
            <a:r>
              <a:rPr lang="en-US" sz="2400" strike="noStrike" u="none">
                <a:solidFill>
                  <a:srgbClr val="000000"/>
                </a:solidFill>
                <a:latin typeface="Open Sauce"/>
                <a:ea typeface="Open Sauce"/>
                <a:cs typeface="Open Sauce"/>
                <a:sym typeface="Open Sauce"/>
              </a:rPr>
              <a:t>- low-level perceptual properties are the strongest predictors in this tabular model </a:t>
            </a:r>
          </a:p>
          <a:p>
            <a:pPr algn="l" marL="518162" indent="-259081" lvl="1">
              <a:lnSpc>
                <a:spcPts val="3840"/>
              </a:lnSpc>
              <a:spcBef>
                <a:spcPct val="0"/>
              </a:spcBef>
              <a:buFont typeface="Arial"/>
              <a:buChar char="•"/>
            </a:pPr>
            <a:r>
              <a:rPr lang="en-US" b="true" sz="2400" strike="noStrike" u="none">
                <a:solidFill>
                  <a:srgbClr val="000000"/>
                </a:solidFill>
                <a:latin typeface="Open Sauce Bold"/>
                <a:ea typeface="Open Sauce Bold"/>
                <a:cs typeface="Open Sauce Bold"/>
                <a:sym typeface="Open Sauce Bold"/>
              </a:rPr>
              <a:t>Viewer feelings </a:t>
            </a:r>
            <a:r>
              <a:rPr lang="en-US" sz="2400" strike="noStrike" u="none">
                <a:solidFill>
                  <a:srgbClr val="000000"/>
                </a:solidFill>
                <a:latin typeface="Open Sauce"/>
                <a:ea typeface="Open Sauce"/>
                <a:cs typeface="Open Sauce"/>
                <a:sym typeface="Open Sauce"/>
              </a:rPr>
              <a:t>are subjectively labeled emotional responses - directly linked to the predicted emotion</a:t>
            </a:r>
          </a:p>
          <a:p>
            <a:pPr algn="l" marL="518162" indent="-259081" lvl="1">
              <a:lnSpc>
                <a:spcPts val="3840"/>
              </a:lnSpc>
              <a:spcBef>
                <a:spcPct val="0"/>
              </a:spcBef>
              <a:buFont typeface="Arial"/>
              <a:buChar char="•"/>
            </a:pPr>
            <a:r>
              <a:rPr lang="en-US" b="true" sz="2400" strike="noStrike" u="none">
                <a:solidFill>
                  <a:srgbClr val="000000"/>
                </a:solidFill>
                <a:latin typeface="Open Sauce Bold"/>
                <a:ea typeface="Open Sauce Bold"/>
                <a:cs typeface="Open Sauce Bold"/>
                <a:sym typeface="Open Sauce Bold"/>
              </a:rPr>
              <a:t>Object </a:t>
            </a:r>
            <a:r>
              <a:rPr lang="en-US" sz="2400" strike="noStrike" u="none">
                <a:solidFill>
                  <a:srgbClr val="000000"/>
                </a:solidFill>
                <a:latin typeface="Open Sauce"/>
                <a:ea typeface="Open Sauce"/>
                <a:cs typeface="Open Sauce"/>
                <a:sym typeface="Open Sauce"/>
              </a:rPr>
              <a:t>and </a:t>
            </a:r>
            <a:r>
              <a:rPr lang="en-US" b="true" sz="2400" strike="noStrike" u="none">
                <a:solidFill>
                  <a:srgbClr val="000000"/>
                </a:solidFill>
                <a:latin typeface="Open Sauce Bold"/>
                <a:ea typeface="Open Sauce Bold"/>
                <a:cs typeface="Open Sauce Bold"/>
                <a:sym typeface="Open Sauce Bold"/>
              </a:rPr>
              <a:t>description </a:t>
            </a:r>
            <a:r>
              <a:rPr lang="en-US" sz="2400" strike="noStrike" u="none">
                <a:solidFill>
                  <a:srgbClr val="000000"/>
                </a:solidFill>
                <a:latin typeface="Open Sauce"/>
                <a:ea typeface="Open Sauce"/>
                <a:cs typeface="Open Sauce"/>
                <a:sym typeface="Open Sauce"/>
              </a:rPr>
              <a:t>-  objective image descriptors, contribute less to predicting emotion</a:t>
            </a:r>
          </a:p>
        </p:txBody>
      </p:sp>
      <p:sp>
        <p:nvSpPr>
          <p:cNvPr name="TextBox 6" id="6"/>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Average SHAP values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6253760" y="4276381"/>
            <a:ext cx="11903539" cy="5876430"/>
          </a:xfrm>
          <a:custGeom>
            <a:avLst/>
            <a:gdLst/>
            <a:ahLst/>
            <a:cxnLst/>
            <a:rect r="r" b="b" t="t" l="l"/>
            <a:pathLst>
              <a:path h="5876430" w="11903539">
                <a:moveTo>
                  <a:pt x="0" y="0"/>
                </a:moveTo>
                <a:lnTo>
                  <a:pt x="11903539" y="0"/>
                </a:lnTo>
                <a:lnTo>
                  <a:pt x="11903539" y="5876431"/>
                </a:lnTo>
                <a:lnTo>
                  <a:pt x="0" y="5876431"/>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Final Model Parameters </a:t>
            </a:r>
          </a:p>
        </p:txBody>
      </p:sp>
      <p:sp>
        <p:nvSpPr>
          <p:cNvPr name="TextBox 5" id="5"/>
          <p:cNvSpPr txBox="true"/>
          <p:nvPr/>
        </p:nvSpPr>
        <p:spPr>
          <a:xfrm rot="0">
            <a:off x="1166399" y="2611411"/>
            <a:ext cx="4733546" cy="3225165"/>
          </a:xfrm>
          <a:prstGeom prst="rect">
            <a:avLst/>
          </a:prstGeom>
        </p:spPr>
        <p:txBody>
          <a:bodyPr anchor="t" rtlCol="false" tIns="0" lIns="0" bIns="0" rIns="0">
            <a:spAutoFit/>
          </a:bodyPr>
          <a:lstStyle/>
          <a:p>
            <a:pPr algn="l">
              <a:lnSpc>
                <a:spcPts val="4320"/>
              </a:lnSpc>
              <a:spcBef>
                <a:spcPct val="0"/>
              </a:spcBef>
            </a:pPr>
            <a:r>
              <a:rPr lang="en-US" sz="2700">
                <a:solidFill>
                  <a:srgbClr val="000000"/>
                </a:solidFill>
                <a:latin typeface="Open Sauce"/>
                <a:ea typeface="Open Sauce"/>
                <a:cs typeface="Open Sauce"/>
                <a:sym typeface="Open Sauce"/>
              </a:rPr>
              <a:t>Cross Validation for number of features</a:t>
            </a:r>
          </a:p>
          <a:p>
            <a:pPr algn="l" marL="582930" indent="-291465" lvl="1">
              <a:lnSpc>
                <a:spcPts val="4320"/>
              </a:lnSpc>
              <a:spcBef>
                <a:spcPct val="0"/>
              </a:spcBef>
              <a:buFont typeface="Arial"/>
              <a:buChar char="•"/>
            </a:pPr>
            <a:r>
              <a:rPr lang="en-US" sz="2700" strike="noStrike" u="none">
                <a:solidFill>
                  <a:srgbClr val="000000"/>
                </a:solidFill>
                <a:latin typeface="Open Sauce"/>
                <a:ea typeface="Open Sauce"/>
                <a:cs typeface="Open Sauce"/>
                <a:sym typeface="Open Sauce"/>
              </a:rPr>
              <a:t>Accuracy</a:t>
            </a:r>
          </a:p>
          <a:p>
            <a:pPr algn="l" marL="582930" indent="-291465" lvl="1">
              <a:lnSpc>
                <a:spcPts val="4320"/>
              </a:lnSpc>
              <a:spcBef>
                <a:spcPct val="0"/>
              </a:spcBef>
              <a:buFont typeface="Arial"/>
              <a:buChar char="•"/>
            </a:pPr>
            <a:r>
              <a:rPr lang="en-US" sz="2700" strike="noStrike" u="none">
                <a:solidFill>
                  <a:srgbClr val="000000"/>
                </a:solidFill>
                <a:latin typeface="Open Sauce"/>
                <a:ea typeface="Open Sauce"/>
                <a:cs typeface="Open Sauce"/>
                <a:sym typeface="Open Sauce"/>
              </a:rPr>
              <a:t>AUC</a:t>
            </a:r>
          </a:p>
          <a:p>
            <a:pPr algn="l">
              <a:lnSpc>
                <a:spcPts val="4320"/>
              </a:lnSpc>
              <a:spcBef>
                <a:spcPct val="0"/>
              </a:spcBef>
            </a:pPr>
            <a:r>
              <a:rPr lang="en-US" sz="2700" strike="noStrike" u="none">
                <a:solidFill>
                  <a:srgbClr val="000000"/>
                </a:solidFill>
                <a:latin typeface="Open Sauce"/>
                <a:ea typeface="Open Sauce"/>
                <a:cs typeface="Open Sauce"/>
                <a:sym typeface="Open Sauce"/>
              </a:rPr>
              <a:t>Best cutoff: top 90 features</a:t>
            </a:r>
          </a:p>
          <a:p>
            <a:pPr algn="l">
              <a:lnSpc>
                <a:spcPts val="4320"/>
              </a:lnSpc>
              <a:spcBef>
                <a:spcPct val="0"/>
              </a:spcBef>
            </a:pPr>
            <a:r>
              <a:rPr lang="en-US" sz="2700" strike="noStrike" u="none">
                <a:solidFill>
                  <a:srgbClr val="000000"/>
                </a:solidFill>
                <a:latin typeface="Open Sauce"/>
                <a:ea typeface="Open Sauce"/>
                <a:cs typeface="Open Sauce"/>
                <a:sym typeface="Open Sauce"/>
              </a:rPr>
              <a:t>Best CV AUC: 0.920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8295720" y="2188320"/>
            <a:ext cx="9721954" cy="8014852"/>
          </a:xfrm>
          <a:custGeom>
            <a:avLst/>
            <a:gdLst/>
            <a:ahLst/>
            <a:cxnLst/>
            <a:rect r="r" b="b" t="t" l="l"/>
            <a:pathLst>
              <a:path h="8014852" w="9721954">
                <a:moveTo>
                  <a:pt x="0" y="0"/>
                </a:moveTo>
                <a:lnTo>
                  <a:pt x="9721954" y="0"/>
                </a:lnTo>
                <a:lnTo>
                  <a:pt x="9721954" y="8014852"/>
                </a:lnTo>
                <a:lnTo>
                  <a:pt x="0" y="8014852"/>
                </a:lnTo>
                <a:lnTo>
                  <a:pt x="0" y="0"/>
                </a:lnTo>
                <a:close/>
              </a:path>
            </a:pathLst>
          </a:custGeom>
          <a:blipFill>
            <a:blip r:embed="rId3"/>
            <a:stretch>
              <a:fillRect l="-108382" t="-4053" r="0" b="-3688"/>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Final Model Preformance on the Test Set</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Confusion Matrix</a:t>
            </a:r>
          </a:p>
        </p:txBody>
      </p:sp>
      <p:sp>
        <p:nvSpPr>
          <p:cNvPr name="TextBox 6" id="6"/>
          <p:cNvSpPr txBox="true"/>
          <p:nvPr/>
        </p:nvSpPr>
        <p:spPr>
          <a:xfrm rot="0">
            <a:off x="1028700" y="3530611"/>
            <a:ext cx="6340864" cy="3373755"/>
          </a:xfrm>
          <a:prstGeom prst="rect">
            <a:avLst/>
          </a:prstGeom>
        </p:spPr>
        <p:txBody>
          <a:bodyPr anchor="t" rtlCol="false" tIns="0" lIns="0" bIns="0" rIns="0">
            <a:spAutoFit/>
          </a:bodyPr>
          <a:lstStyle/>
          <a:p>
            <a:pPr algn="l" marL="518162" indent="-259081" lvl="1">
              <a:lnSpc>
                <a:spcPts val="3840"/>
              </a:lnSpc>
              <a:buFont typeface="Arial"/>
              <a:buChar char="•"/>
            </a:pPr>
            <a:r>
              <a:rPr lang="en-US" sz="2400">
                <a:solidFill>
                  <a:srgbClr val="000000"/>
                </a:solidFill>
                <a:latin typeface="Open Sauce"/>
                <a:ea typeface="Open Sauce"/>
                <a:cs typeface="Open Sauce"/>
                <a:sym typeface="Open Sauce"/>
              </a:rPr>
              <a:t>Fear (0.76) and awe (0.70) are classified most accurately</a:t>
            </a:r>
          </a:p>
          <a:p>
            <a:pPr algn="l" marL="518162" indent="-259081" lvl="1">
              <a:lnSpc>
                <a:spcPts val="3840"/>
              </a:lnSpc>
              <a:buFont typeface="Arial"/>
              <a:buChar char="•"/>
            </a:pPr>
            <a:r>
              <a:rPr lang="en-US" sz="2400">
                <a:solidFill>
                  <a:srgbClr val="000000"/>
                </a:solidFill>
                <a:latin typeface="Open Sauce"/>
                <a:ea typeface="Open Sauce"/>
                <a:cs typeface="Open Sauce"/>
                <a:sym typeface="Open Sauce"/>
              </a:rPr>
              <a:t>The hardest emotion is contentment - it gets confused heavily with amusement (0.32) and awe (0.23).</a:t>
            </a:r>
          </a:p>
          <a:p>
            <a:pPr algn="l" marL="518162" indent="-259081" lvl="1">
              <a:lnSpc>
                <a:spcPts val="3840"/>
              </a:lnSpc>
              <a:spcBef>
                <a:spcPct val="0"/>
              </a:spcBef>
              <a:buFont typeface="Arial"/>
              <a:buChar char="•"/>
            </a:pPr>
            <a:r>
              <a:rPr lang="en-US" sz="2400">
                <a:solidFill>
                  <a:srgbClr val="000000"/>
                </a:solidFill>
                <a:latin typeface="Open Sauce"/>
                <a:ea typeface="Open Sauce"/>
                <a:cs typeface="Open Sauce"/>
                <a:sym typeface="Open Sauce"/>
              </a:rPr>
              <a:t>Sadness is also confused with anger (0.25), both negative emotions.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9424189" y="2455020"/>
            <a:ext cx="7646072" cy="7289057"/>
          </a:xfrm>
          <a:custGeom>
            <a:avLst/>
            <a:gdLst/>
            <a:ahLst/>
            <a:cxnLst/>
            <a:rect r="r" b="b" t="t" l="l"/>
            <a:pathLst>
              <a:path h="7289057" w="7646072">
                <a:moveTo>
                  <a:pt x="0" y="0"/>
                </a:moveTo>
                <a:lnTo>
                  <a:pt x="7646072" y="0"/>
                </a:lnTo>
                <a:lnTo>
                  <a:pt x="7646072" y="7289057"/>
                </a:lnTo>
                <a:lnTo>
                  <a:pt x="0" y="7289057"/>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Final Model Preformance on the Test Set</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Confusion Matrix</a:t>
            </a:r>
          </a:p>
        </p:txBody>
      </p:sp>
      <p:sp>
        <p:nvSpPr>
          <p:cNvPr name="TextBox 6" id="6"/>
          <p:cNvSpPr txBox="true"/>
          <p:nvPr/>
        </p:nvSpPr>
        <p:spPr>
          <a:xfrm rot="0">
            <a:off x="1028700" y="2775916"/>
            <a:ext cx="6385143" cy="5029835"/>
          </a:xfrm>
          <a:prstGeom prst="rect">
            <a:avLst/>
          </a:prstGeom>
        </p:spPr>
        <p:txBody>
          <a:bodyPr anchor="t" rtlCol="false" tIns="0" lIns="0" bIns="0" rIns="0">
            <a:spAutoFit/>
          </a:bodyPr>
          <a:lstStyle/>
          <a:p>
            <a:pPr algn="l" marL="604519" indent="-302260" lvl="1">
              <a:lnSpc>
                <a:spcPts val="4479"/>
              </a:lnSpc>
              <a:buFont typeface="Arial"/>
              <a:buChar char="•"/>
            </a:pPr>
            <a:r>
              <a:rPr lang="en-US" sz="2799">
                <a:solidFill>
                  <a:srgbClr val="000000"/>
                </a:solidFill>
                <a:latin typeface="Open Sauce"/>
                <a:ea typeface="Open Sauce"/>
                <a:cs typeface="Open Sauce"/>
                <a:sym typeface="Open Sauce"/>
              </a:rPr>
              <a:t>The model has essentially learned valence discrimination very well</a:t>
            </a:r>
          </a:p>
          <a:p>
            <a:pPr algn="l" marL="604519" indent="-302260" lvl="1">
              <a:lnSpc>
                <a:spcPts val="4479"/>
              </a:lnSpc>
              <a:buFont typeface="Arial"/>
              <a:buChar char="•"/>
            </a:pPr>
            <a:r>
              <a:rPr lang="en-US" sz="2799">
                <a:solidFill>
                  <a:srgbClr val="000000"/>
                </a:solidFill>
                <a:latin typeface="Open Sauce"/>
                <a:ea typeface="Open Sauce"/>
                <a:cs typeface="Open Sauce"/>
                <a:sym typeface="Open Sauce"/>
              </a:rPr>
              <a:t>T</a:t>
            </a:r>
            <a:r>
              <a:rPr lang="en-US" sz="2799">
                <a:solidFill>
                  <a:srgbClr val="000000"/>
                </a:solidFill>
                <a:latin typeface="Open Sauce"/>
                <a:ea typeface="Open Sauce"/>
                <a:cs typeface="Open Sauce"/>
                <a:sym typeface="Open Sauce"/>
              </a:rPr>
              <a:t>he difficulty lies in the finer-grained 8-class task within each valence group.</a:t>
            </a:r>
          </a:p>
          <a:p>
            <a:pPr algn="l" marL="604519" indent="-302260" lvl="1">
              <a:lnSpc>
                <a:spcPts val="4479"/>
              </a:lnSpc>
              <a:spcBef>
                <a:spcPct val="0"/>
              </a:spcBef>
              <a:buFont typeface="Arial"/>
              <a:buChar char="•"/>
            </a:pPr>
            <a:r>
              <a:rPr lang="en-US" sz="2799">
                <a:solidFill>
                  <a:srgbClr val="000000"/>
                </a:solidFill>
                <a:latin typeface="Open Sauce"/>
                <a:ea typeface="Open Sauce"/>
                <a:cs typeface="Open Sauce"/>
                <a:sym typeface="Open Sauce"/>
              </a:rPr>
              <a:t>The pattern of errors mirrors the valence structure observed in the EDA clustering.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5242927" y="2416920"/>
            <a:ext cx="12743846" cy="7598518"/>
          </a:xfrm>
          <a:custGeom>
            <a:avLst/>
            <a:gdLst/>
            <a:ahLst/>
            <a:cxnLst/>
            <a:rect r="r" b="b" t="t" l="l"/>
            <a:pathLst>
              <a:path h="7598518" w="12743846">
                <a:moveTo>
                  <a:pt x="0" y="0"/>
                </a:moveTo>
                <a:lnTo>
                  <a:pt x="12743846" y="0"/>
                </a:lnTo>
                <a:lnTo>
                  <a:pt x="12743846" y="7598518"/>
                </a:lnTo>
                <a:lnTo>
                  <a:pt x="0" y="7598518"/>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Ablation analysis</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Tabular model</a:t>
            </a:r>
          </a:p>
        </p:txBody>
      </p:sp>
      <p:sp>
        <p:nvSpPr>
          <p:cNvPr name="TextBox 6" id="6"/>
          <p:cNvSpPr txBox="true"/>
          <p:nvPr/>
        </p:nvSpPr>
        <p:spPr>
          <a:xfrm rot="0">
            <a:off x="871405" y="3024352"/>
            <a:ext cx="4371522" cy="6288405"/>
          </a:xfrm>
          <a:prstGeom prst="rect">
            <a:avLst/>
          </a:prstGeom>
        </p:spPr>
        <p:txBody>
          <a:bodyPr anchor="t" rtlCol="false" tIns="0" lIns="0" bIns="0" rIns="0">
            <a:spAutoFit/>
          </a:bodyPr>
          <a:lstStyle/>
          <a:p>
            <a:pPr algn="l" marL="518162" indent="-259081" lvl="1">
              <a:lnSpc>
                <a:spcPts val="3840"/>
              </a:lnSpc>
              <a:buFont typeface="Arial"/>
              <a:buChar char="•"/>
            </a:pPr>
            <a:r>
              <a:rPr lang="en-US" sz="2400">
                <a:solidFill>
                  <a:srgbClr val="000000"/>
                </a:solidFill>
                <a:latin typeface="Open Sauce"/>
                <a:ea typeface="Open Sauce"/>
                <a:cs typeface="Open Sauce"/>
                <a:sym typeface="Open Sauce"/>
              </a:rPr>
              <a:t> Textual features  - </a:t>
            </a:r>
          </a:p>
          <a:p>
            <a:pPr algn="l" marL="1036323" indent="-345441" lvl="2">
              <a:lnSpc>
                <a:spcPts val="3840"/>
              </a:lnSpc>
              <a:buFont typeface="Arial"/>
              <a:buChar char="⚬"/>
            </a:pPr>
            <a:r>
              <a:rPr lang="en-US" sz="2400">
                <a:solidFill>
                  <a:srgbClr val="000000"/>
                </a:solidFill>
                <a:latin typeface="Open Sauce"/>
                <a:ea typeface="Open Sauce"/>
                <a:cs typeface="Open Sauce"/>
                <a:sym typeface="Open Sauce"/>
              </a:rPr>
              <a:t>Viewer feelings &gt; description - relation to the predicted variable (subjective vs. objective)</a:t>
            </a:r>
          </a:p>
          <a:p>
            <a:pPr algn="l" marL="1036323" indent="-345441" lvl="2">
              <a:lnSpc>
                <a:spcPts val="3840"/>
              </a:lnSpc>
              <a:buFont typeface="Arial"/>
              <a:buChar char="⚬"/>
            </a:pPr>
            <a:r>
              <a:rPr lang="en-US" sz="2400">
                <a:solidFill>
                  <a:srgbClr val="000000"/>
                </a:solidFill>
                <a:latin typeface="Open Sauce"/>
                <a:ea typeface="Open Sauce"/>
                <a:cs typeface="Open Sauce"/>
                <a:sym typeface="Open Sauce"/>
              </a:rPr>
              <a:t>Description &gt; object - containing more information</a:t>
            </a:r>
          </a:p>
          <a:p>
            <a:pPr algn="l" marL="518162" indent="-259081" lvl="1">
              <a:lnSpc>
                <a:spcPts val="3840"/>
              </a:lnSpc>
              <a:buFont typeface="Arial"/>
              <a:buChar char="•"/>
            </a:pPr>
            <a:r>
              <a:rPr lang="en-US" sz="2400">
                <a:solidFill>
                  <a:srgbClr val="000000"/>
                </a:solidFill>
                <a:latin typeface="Open Sauce"/>
                <a:ea typeface="Open Sauce"/>
                <a:cs typeface="Open Sauce"/>
                <a:sym typeface="Open Sauce"/>
              </a:rPr>
              <a:t>Numeric features alone performed well above chance</a:t>
            </a:r>
          </a:p>
          <a:p>
            <a:pPr algn="l" marL="518162" indent="-259081" lvl="1">
              <a:lnSpc>
                <a:spcPts val="3840"/>
              </a:lnSpc>
              <a:spcBef>
                <a:spcPct val="0"/>
              </a:spcBef>
              <a:buFont typeface="Arial"/>
              <a:buChar char="•"/>
            </a:pPr>
            <a:r>
              <a:rPr lang="en-US" sz="2400">
                <a:solidFill>
                  <a:srgbClr val="000000"/>
                </a:solidFill>
                <a:latin typeface="Open Sauce"/>
                <a:ea typeface="Open Sauce"/>
                <a:cs typeface="Open Sauce"/>
                <a:sym typeface="Open Sauce"/>
              </a:rPr>
              <a:t>Accuracy &lt; AUC</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TextBox 3" id="3"/>
          <p:cNvSpPr txBox="true"/>
          <p:nvPr/>
        </p:nvSpPr>
        <p:spPr>
          <a:xfrm rot="0">
            <a:off x="1166399" y="969121"/>
            <a:ext cx="13953866" cy="5006340"/>
          </a:xfrm>
          <a:prstGeom prst="rect">
            <a:avLst/>
          </a:prstGeom>
        </p:spPr>
        <p:txBody>
          <a:bodyPr anchor="t" rtlCol="false" tIns="0" lIns="0" bIns="0" rIns="0">
            <a:spAutoFit/>
          </a:bodyPr>
          <a:lstStyle/>
          <a:p>
            <a:pPr algn="just">
              <a:lnSpc>
                <a:spcPts val="20160"/>
              </a:lnSpc>
            </a:pPr>
            <a:r>
              <a:rPr lang="en-US" sz="14400">
                <a:solidFill>
                  <a:srgbClr val="000000"/>
                </a:solidFill>
                <a:latin typeface="DM Serif Display"/>
                <a:ea typeface="DM Serif Display"/>
                <a:cs typeface="DM Serif Display"/>
                <a:sym typeface="DM Serif Display"/>
              </a:rPr>
              <a:t>Embedded Model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10067925" y="1578720"/>
            <a:ext cx="7030281" cy="3973637"/>
          </a:xfrm>
          <a:custGeom>
            <a:avLst/>
            <a:gdLst/>
            <a:ahLst/>
            <a:cxnLst/>
            <a:rect r="r" b="b" t="t" l="l"/>
            <a:pathLst>
              <a:path h="3973637" w="7030281">
                <a:moveTo>
                  <a:pt x="0" y="0"/>
                </a:moveTo>
                <a:lnTo>
                  <a:pt x="7030281" y="0"/>
                </a:lnTo>
                <a:lnTo>
                  <a:pt x="7030281" y="3973637"/>
                </a:lnTo>
                <a:lnTo>
                  <a:pt x="0" y="3973637"/>
                </a:lnTo>
                <a:lnTo>
                  <a:pt x="0" y="0"/>
                </a:lnTo>
                <a:close/>
              </a:path>
            </a:pathLst>
          </a:custGeom>
          <a:blipFill>
            <a:blip r:embed="rId3"/>
            <a:stretch>
              <a:fillRect l="0" t="0" r="0" b="0"/>
            </a:stretch>
          </a:blipFill>
        </p:spPr>
      </p:sp>
      <p:sp>
        <p:nvSpPr>
          <p:cNvPr name="Freeform 4" id="4"/>
          <p:cNvSpPr/>
          <p:nvPr/>
        </p:nvSpPr>
        <p:spPr>
          <a:xfrm flipH="false" flipV="false" rot="0">
            <a:off x="10066595" y="5860856"/>
            <a:ext cx="6976933" cy="3943484"/>
          </a:xfrm>
          <a:custGeom>
            <a:avLst/>
            <a:gdLst/>
            <a:ahLst/>
            <a:cxnLst/>
            <a:rect r="r" b="b" t="t" l="l"/>
            <a:pathLst>
              <a:path h="3943484" w="6976933">
                <a:moveTo>
                  <a:pt x="0" y="0"/>
                </a:moveTo>
                <a:lnTo>
                  <a:pt x="6976933" y="0"/>
                </a:lnTo>
                <a:lnTo>
                  <a:pt x="6976933" y="3943483"/>
                </a:lnTo>
                <a:lnTo>
                  <a:pt x="0" y="3943483"/>
                </a:lnTo>
                <a:lnTo>
                  <a:pt x="0" y="0"/>
                </a:lnTo>
                <a:close/>
              </a:path>
            </a:pathLst>
          </a:custGeom>
          <a:blipFill>
            <a:blip r:embed="rId4"/>
            <a:stretch>
              <a:fillRect l="0" t="0" r="0" b="0"/>
            </a:stretch>
          </a:blipFill>
        </p:spPr>
      </p:sp>
      <p:sp>
        <p:nvSpPr>
          <p:cNvPr name="Freeform 5" id="5"/>
          <p:cNvSpPr/>
          <p:nvPr/>
        </p:nvSpPr>
        <p:spPr>
          <a:xfrm flipH="false" flipV="false" rot="0">
            <a:off x="2446765" y="5860856"/>
            <a:ext cx="6976933" cy="3943484"/>
          </a:xfrm>
          <a:custGeom>
            <a:avLst/>
            <a:gdLst/>
            <a:ahLst/>
            <a:cxnLst/>
            <a:rect r="r" b="b" t="t" l="l"/>
            <a:pathLst>
              <a:path h="3943484" w="6976933">
                <a:moveTo>
                  <a:pt x="0" y="0"/>
                </a:moveTo>
                <a:lnTo>
                  <a:pt x="6976933" y="0"/>
                </a:lnTo>
                <a:lnTo>
                  <a:pt x="6976933" y="3943483"/>
                </a:lnTo>
                <a:lnTo>
                  <a:pt x="0" y="3943483"/>
                </a:lnTo>
                <a:lnTo>
                  <a:pt x="0" y="0"/>
                </a:lnTo>
                <a:close/>
              </a:path>
            </a:pathLst>
          </a:custGeom>
          <a:blipFill>
            <a:blip r:embed="rId5"/>
            <a:stretch>
              <a:fillRect l="0" t="0" r="0" b="0"/>
            </a:stretch>
          </a:blipFill>
        </p:spPr>
      </p:sp>
      <p:sp>
        <p:nvSpPr>
          <p:cNvPr name="TextBox 6" id="6"/>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Dimension Reduction</a:t>
            </a:r>
          </a:p>
        </p:txBody>
      </p:sp>
      <p:sp>
        <p:nvSpPr>
          <p:cNvPr name="TextBox 7" id="7"/>
          <p:cNvSpPr txBox="true"/>
          <p:nvPr/>
        </p:nvSpPr>
        <p:spPr>
          <a:xfrm rot="0">
            <a:off x="1166399" y="3005095"/>
            <a:ext cx="6172631" cy="1657985"/>
          </a:xfrm>
          <a:prstGeom prst="rect">
            <a:avLst/>
          </a:prstGeom>
        </p:spPr>
        <p:txBody>
          <a:bodyPr anchor="t" rtlCol="false" tIns="0" lIns="0" bIns="0" rIns="0">
            <a:spAutoFit/>
          </a:bodyPr>
          <a:lstStyle/>
          <a:p>
            <a:pPr algn="l">
              <a:lnSpc>
                <a:spcPts val="4479"/>
              </a:lnSpc>
              <a:spcBef>
                <a:spcPct val="0"/>
              </a:spcBef>
            </a:pPr>
            <a:r>
              <a:rPr lang="en-US" sz="2799">
                <a:solidFill>
                  <a:srgbClr val="000000"/>
                </a:solidFill>
                <a:latin typeface="Open Sauce"/>
                <a:ea typeface="Open Sauce"/>
                <a:cs typeface="Open Sauce"/>
                <a:sym typeface="Open Sauce"/>
              </a:rPr>
              <a:t>How many dimensions per embedded feature are needed to explain 90% of the variance</a:t>
            </a:r>
          </a:p>
        </p:txBody>
      </p:sp>
      <p:sp>
        <p:nvSpPr>
          <p:cNvPr name="TextBox 8" id="8"/>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Exploratory - using threshold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489421" y="4719850"/>
            <a:ext cx="17309158" cy="4781655"/>
          </a:xfrm>
          <a:custGeom>
            <a:avLst/>
            <a:gdLst/>
            <a:ahLst/>
            <a:cxnLst/>
            <a:rect r="r" b="b" t="t" l="l"/>
            <a:pathLst>
              <a:path h="4781655" w="17309158">
                <a:moveTo>
                  <a:pt x="0" y="0"/>
                </a:moveTo>
                <a:lnTo>
                  <a:pt x="17309158" y="0"/>
                </a:lnTo>
                <a:lnTo>
                  <a:pt x="17309158" y="4781655"/>
                </a:lnTo>
                <a:lnTo>
                  <a:pt x="0" y="4781655"/>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Dimension Reduction</a:t>
            </a:r>
          </a:p>
        </p:txBody>
      </p:sp>
      <p:sp>
        <p:nvSpPr>
          <p:cNvPr name="TextBox 5" id="5"/>
          <p:cNvSpPr txBox="true"/>
          <p:nvPr/>
        </p:nvSpPr>
        <p:spPr>
          <a:xfrm rot="0">
            <a:off x="1498444" y="2995190"/>
            <a:ext cx="15760856" cy="534035"/>
          </a:xfrm>
          <a:prstGeom prst="rect">
            <a:avLst/>
          </a:prstGeom>
        </p:spPr>
        <p:txBody>
          <a:bodyPr anchor="t" rtlCol="false" tIns="0" lIns="0" bIns="0" rIns="0">
            <a:spAutoFit/>
          </a:bodyPr>
          <a:lstStyle/>
          <a:p>
            <a:pPr algn="l" marL="604519" indent="-302260" lvl="1">
              <a:lnSpc>
                <a:spcPts val="4479"/>
              </a:lnSpc>
              <a:spcBef>
                <a:spcPct val="0"/>
              </a:spcBef>
              <a:buFont typeface="Arial"/>
              <a:buChar char="•"/>
            </a:pPr>
            <a:r>
              <a:rPr lang="en-US" sz="2799">
                <a:solidFill>
                  <a:srgbClr val="000000"/>
                </a:solidFill>
                <a:latin typeface="Open Sauce"/>
                <a:ea typeface="Open Sauce"/>
                <a:cs typeface="Open Sauce"/>
                <a:sym typeface="Open Sauce"/>
              </a:rPr>
              <a:t>Selecting the optimal N(PCs) per feature, using CV (logistic regression)</a:t>
            </a:r>
          </a:p>
        </p:txBody>
      </p:sp>
      <p:sp>
        <p:nvSpPr>
          <p:cNvPr name="TextBox 6" id="6"/>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Using cross-validated AUC</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7431724" y="2703471"/>
            <a:ext cx="10645354" cy="7544895"/>
          </a:xfrm>
          <a:custGeom>
            <a:avLst/>
            <a:gdLst/>
            <a:ahLst/>
            <a:cxnLst/>
            <a:rect r="r" b="b" t="t" l="l"/>
            <a:pathLst>
              <a:path h="7544895" w="10645354">
                <a:moveTo>
                  <a:pt x="0" y="0"/>
                </a:moveTo>
                <a:lnTo>
                  <a:pt x="10645354" y="0"/>
                </a:lnTo>
                <a:lnTo>
                  <a:pt x="10645354" y="7544895"/>
                </a:lnTo>
                <a:lnTo>
                  <a:pt x="0" y="7544895"/>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Model Selection</a:t>
            </a:r>
          </a:p>
        </p:txBody>
      </p:sp>
      <p:sp>
        <p:nvSpPr>
          <p:cNvPr name="TextBox 5" id="5"/>
          <p:cNvSpPr txBox="true"/>
          <p:nvPr/>
        </p:nvSpPr>
        <p:spPr>
          <a:xfrm rot="0">
            <a:off x="1028700" y="3249484"/>
            <a:ext cx="5968640" cy="2759709"/>
          </a:xfrm>
          <a:prstGeom prst="rect">
            <a:avLst/>
          </a:prstGeom>
        </p:spPr>
        <p:txBody>
          <a:bodyPr anchor="t" rtlCol="false" tIns="0" lIns="0" bIns="0" rIns="0">
            <a:spAutoFit/>
          </a:bodyPr>
          <a:lstStyle/>
          <a:p>
            <a:pPr algn="l" marL="496572" indent="-248286" lvl="1">
              <a:lnSpc>
                <a:spcPts val="3680"/>
              </a:lnSpc>
              <a:buFont typeface="Arial"/>
              <a:buChar char="•"/>
            </a:pPr>
            <a:r>
              <a:rPr lang="en-US" sz="2300">
                <a:solidFill>
                  <a:srgbClr val="000000"/>
                </a:solidFill>
                <a:latin typeface="Open Sauce"/>
                <a:ea typeface="Open Sauce"/>
                <a:cs typeface="Open Sauce"/>
                <a:sym typeface="Open Sauce"/>
              </a:rPr>
              <a:t>The embedding models all achieve substantially higher AUC than the tabular models.</a:t>
            </a:r>
          </a:p>
          <a:p>
            <a:pPr algn="l" marL="496572" indent="-248286" lvl="1">
              <a:lnSpc>
                <a:spcPts val="3680"/>
              </a:lnSpc>
              <a:spcBef>
                <a:spcPct val="0"/>
              </a:spcBef>
              <a:buFont typeface="Arial"/>
              <a:buChar char="•"/>
            </a:pPr>
            <a:r>
              <a:rPr lang="en-US" sz="2300">
                <a:solidFill>
                  <a:srgbClr val="000000"/>
                </a:solidFill>
                <a:latin typeface="Open Sauce"/>
                <a:ea typeface="Open Sauce"/>
                <a:cs typeface="Open Sauce"/>
                <a:sym typeface="Open Sauce"/>
              </a:rPr>
              <a:t>Overall, the models performed better for the negative emotions than the positive  </a:t>
            </a:r>
          </a:p>
        </p:txBody>
      </p:sp>
      <p:sp>
        <p:nvSpPr>
          <p:cNvPr name="TextBox 6" id="6"/>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Using CV for hyperparameter tuning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2372606" y="3166281"/>
            <a:ext cx="13542788" cy="6788323"/>
          </a:xfrm>
          <a:custGeom>
            <a:avLst/>
            <a:gdLst/>
            <a:ahLst/>
            <a:cxnLst/>
            <a:rect r="r" b="b" t="t" l="l"/>
            <a:pathLst>
              <a:path h="6788323" w="13542788">
                <a:moveTo>
                  <a:pt x="0" y="0"/>
                </a:moveTo>
                <a:lnTo>
                  <a:pt x="13542788" y="0"/>
                </a:lnTo>
                <a:lnTo>
                  <a:pt x="13542788" y="6788323"/>
                </a:lnTo>
                <a:lnTo>
                  <a:pt x="0" y="6788323"/>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Model Selection</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Comparing models’ performances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159343" y="2405399"/>
            <a:ext cx="8984657" cy="7843501"/>
          </a:xfrm>
          <a:custGeom>
            <a:avLst/>
            <a:gdLst/>
            <a:ahLst/>
            <a:cxnLst/>
            <a:rect r="r" b="b" t="t" l="l"/>
            <a:pathLst>
              <a:path h="7843501" w="8984657">
                <a:moveTo>
                  <a:pt x="0" y="0"/>
                </a:moveTo>
                <a:lnTo>
                  <a:pt x="8984657" y="0"/>
                </a:lnTo>
                <a:lnTo>
                  <a:pt x="8984657" y="7843501"/>
                </a:lnTo>
                <a:lnTo>
                  <a:pt x="0" y="7843501"/>
                </a:lnTo>
                <a:lnTo>
                  <a:pt x="0" y="0"/>
                </a:lnTo>
                <a:close/>
              </a:path>
            </a:pathLst>
          </a:custGeom>
          <a:blipFill>
            <a:blip r:embed="rId3"/>
            <a:stretch>
              <a:fillRect l="-112580" t="-410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Final Model Performance on the Test Set</a:t>
            </a:r>
          </a:p>
        </p:txBody>
      </p:sp>
      <p:sp>
        <p:nvSpPr>
          <p:cNvPr name="Freeform 5" id="5"/>
          <p:cNvSpPr/>
          <p:nvPr/>
        </p:nvSpPr>
        <p:spPr>
          <a:xfrm flipH="false" flipV="false" rot="0">
            <a:off x="9413552" y="2236515"/>
            <a:ext cx="7845748" cy="7479410"/>
          </a:xfrm>
          <a:custGeom>
            <a:avLst/>
            <a:gdLst/>
            <a:ahLst/>
            <a:cxnLst/>
            <a:rect r="r" b="b" t="t" l="l"/>
            <a:pathLst>
              <a:path h="7479410" w="7845748">
                <a:moveTo>
                  <a:pt x="0" y="0"/>
                </a:moveTo>
                <a:lnTo>
                  <a:pt x="7845748" y="0"/>
                </a:lnTo>
                <a:lnTo>
                  <a:pt x="7845748" y="7479410"/>
                </a:lnTo>
                <a:lnTo>
                  <a:pt x="0" y="7479410"/>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2122236" y="3032405"/>
            <a:ext cx="14043528" cy="6951546"/>
          </a:xfrm>
          <a:custGeom>
            <a:avLst/>
            <a:gdLst/>
            <a:ahLst/>
            <a:cxnLst/>
            <a:rect r="r" b="b" t="t" l="l"/>
            <a:pathLst>
              <a:path h="6951546" w="14043528">
                <a:moveTo>
                  <a:pt x="0" y="0"/>
                </a:moveTo>
                <a:lnTo>
                  <a:pt x="14043528" y="0"/>
                </a:lnTo>
                <a:lnTo>
                  <a:pt x="14043528" y="6951547"/>
                </a:lnTo>
                <a:lnTo>
                  <a:pt x="0" y="6951547"/>
                </a:lnTo>
                <a:lnTo>
                  <a:pt x="0" y="0"/>
                </a:lnTo>
                <a:close/>
              </a:path>
            </a:pathLst>
          </a:custGeom>
          <a:blipFill>
            <a:blip r:embed="rId3"/>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Ablation analysis</a:t>
            </a:r>
          </a:p>
        </p:txBody>
      </p:sp>
      <p:sp>
        <p:nvSpPr>
          <p:cNvPr name="TextBox 5" id="5"/>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Embedding model</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0">
            <a:off x="2362581" y="4321976"/>
            <a:ext cx="13562839" cy="5594671"/>
          </a:xfrm>
          <a:custGeom>
            <a:avLst/>
            <a:gdLst/>
            <a:ahLst/>
            <a:cxnLst/>
            <a:rect r="r" b="b" t="t" l="l"/>
            <a:pathLst>
              <a:path h="5594671" w="13562839">
                <a:moveTo>
                  <a:pt x="0" y="0"/>
                </a:moveTo>
                <a:lnTo>
                  <a:pt x="13562838" y="0"/>
                </a:lnTo>
                <a:lnTo>
                  <a:pt x="13562838" y="5594671"/>
                </a:lnTo>
                <a:lnTo>
                  <a:pt x="0" y="5594671"/>
                </a:lnTo>
                <a:lnTo>
                  <a:pt x="0" y="0"/>
                </a:lnTo>
                <a:close/>
              </a:path>
            </a:pathLst>
          </a:custGeom>
          <a:blipFill>
            <a:blip r:embed="rId2"/>
            <a:stretch>
              <a:fillRect l="0" t="0" r="0" b="0"/>
            </a:stretch>
          </a:blipFill>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Tabular vs. Embeddings</a:t>
            </a:r>
          </a:p>
        </p:txBody>
      </p:sp>
      <p:sp>
        <p:nvSpPr>
          <p:cNvPr name="TextBox 5" id="5"/>
          <p:cNvSpPr txBox="true"/>
          <p:nvPr/>
        </p:nvSpPr>
        <p:spPr>
          <a:xfrm rot="0">
            <a:off x="1166399" y="2642345"/>
            <a:ext cx="15199183" cy="1359534"/>
          </a:xfrm>
          <a:prstGeom prst="rect">
            <a:avLst/>
          </a:prstGeom>
        </p:spPr>
        <p:txBody>
          <a:bodyPr anchor="t" rtlCol="false" tIns="0" lIns="0" bIns="0" rIns="0">
            <a:spAutoFit/>
          </a:bodyPr>
          <a:lstStyle/>
          <a:p>
            <a:pPr algn="l" marL="496572" indent="-248286" lvl="1">
              <a:lnSpc>
                <a:spcPts val="3680"/>
              </a:lnSpc>
              <a:buFont typeface="Arial"/>
              <a:buChar char="•"/>
            </a:pPr>
            <a:r>
              <a:rPr lang="en-US" sz="2300">
                <a:solidFill>
                  <a:srgbClr val="000000"/>
                </a:solidFill>
                <a:latin typeface="Open Sauce"/>
                <a:ea typeface="Open Sauce"/>
                <a:cs typeface="Open Sauce"/>
                <a:sym typeface="Open Sauce"/>
              </a:rPr>
              <a:t>Embedding outperformed tabular - mainly in negative emotions.</a:t>
            </a:r>
          </a:p>
          <a:p>
            <a:pPr algn="l" marL="496572" indent="-248286" lvl="1">
              <a:lnSpc>
                <a:spcPts val="3680"/>
              </a:lnSpc>
              <a:spcBef>
                <a:spcPct val="0"/>
              </a:spcBef>
              <a:buFont typeface="Arial"/>
              <a:buChar char="•"/>
            </a:pPr>
            <a:r>
              <a:rPr lang="en-US" sz="2300">
                <a:solidFill>
                  <a:srgbClr val="000000"/>
                </a:solidFill>
                <a:latin typeface="Open Sauce"/>
                <a:ea typeface="Open Sauce"/>
                <a:cs typeface="Open Sauce"/>
                <a:sym typeface="Open Sauce"/>
              </a:rPr>
              <a:t>It’s easier to classify emotions with unique expression, over those with complicated psychological interpretation</a:t>
            </a:r>
          </a:p>
        </p:txBody>
      </p:sp>
      <p:sp>
        <p:nvSpPr>
          <p:cNvPr name="TextBox 6" id="6"/>
          <p:cNvSpPr txBox="true"/>
          <p:nvPr/>
        </p:nvSpPr>
        <p:spPr>
          <a:xfrm rot="0">
            <a:off x="1166399" y="1902570"/>
            <a:ext cx="13953866" cy="514350"/>
          </a:xfrm>
          <a:prstGeom prst="rect">
            <a:avLst/>
          </a:prstGeom>
        </p:spPr>
        <p:txBody>
          <a:bodyPr anchor="t" rtlCol="false" tIns="0" lIns="0" bIns="0" rIns="0">
            <a:spAutoFit/>
          </a:bodyPr>
          <a:lstStyle/>
          <a:p>
            <a:pPr algn="just">
              <a:lnSpc>
                <a:spcPts val="4200"/>
              </a:lnSpc>
            </a:pPr>
            <a:r>
              <a:rPr lang="en-US" sz="3000">
                <a:solidFill>
                  <a:srgbClr val="000000"/>
                </a:solidFill>
                <a:latin typeface="DM Serif Display"/>
                <a:ea typeface="DM Serif Display"/>
                <a:cs typeface="DM Serif Display"/>
                <a:sym typeface="DM Serif Display"/>
              </a:rPr>
              <a:t>Performance per emotion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166399" y="1028700"/>
            <a:ext cx="687324" cy="0"/>
          </a:xfrm>
          <a:prstGeom prst="line">
            <a:avLst/>
          </a:prstGeom>
          <a:ln cap="flat" w="76200">
            <a:solidFill>
              <a:srgbClr val="000000"/>
            </a:solidFill>
            <a:prstDash val="solid"/>
            <a:headEnd type="none" len="sm" w="sm"/>
            <a:tailEnd type="none" len="sm" w="sm"/>
          </a:ln>
        </p:spPr>
      </p:sp>
      <p:sp>
        <p:nvSpPr>
          <p:cNvPr name="Freeform 3" id="3"/>
          <p:cNvSpPr/>
          <p:nvPr/>
        </p:nvSpPr>
        <p:spPr>
          <a:xfrm flipH="false" flipV="false" rot="861077">
            <a:off x="10745390" y="353141"/>
            <a:ext cx="1825090" cy="1765360"/>
          </a:xfrm>
          <a:custGeom>
            <a:avLst/>
            <a:gdLst/>
            <a:ahLst/>
            <a:cxnLst/>
            <a:rect r="r" b="b" t="t" l="l"/>
            <a:pathLst>
              <a:path h="1765360" w="1825090">
                <a:moveTo>
                  <a:pt x="0" y="0"/>
                </a:moveTo>
                <a:lnTo>
                  <a:pt x="1825090" y="0"/>
                </a:lnTo>
                <a:lnTo>
                  <a:pt x="1825090" y="1765360"/>
                </a:lnTo>
                <a:lnTo>
                  <a:pt x="0" y="1765360"/>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1166399" y="1150096"/>
            <a:ext cx="13953866" cy="771524"/>
          </a:xfrm>
          <a:prstGeom prst="rect">
            <a:avLst/>
          </a:prstGeom>
        </p:spPr>
        <p:txBody>
          <a:bodyPr anchor="t" rtlCol="false" tIns="0" lIns="0" bIns="0" rIns="0">
            <a:spAutoFit/>
          </a:bodyPr>
          <a:lstStyle/>
          <a:p>
            <a:pPr algn="l">
              <a:lnSpc>
                <a:spcPts val="6300"/>
              </a:lnSpc>
            </a:pPr>
            <a:r>
              <a:rPr lang="en-US" sz="4500">
                <a:solidFill>
                  <a:srgbClr val="000000"/>
                </a:solidFill>
                <a:latin typeface="DM Serif Display"/>
                <a:ea typeface="DM Serif Display"/>
                <a:cs typeface="DM Serif Display"/>
                <a:sym typeface="DM Serif Display"/>
              </a:rPr>
              <a:t>Conclusions</a:t>
            </a:r>
          </a:p>
        </p:txBody>
      </p:sp>
      <p:sp>
        <p:nvSpPr>
          <p:cNvPr name="TextBox 5" id="5"/>
          <p:cNvSpPr txBox="true"/>
          <p:nvPr/>
        </p:nvSpPr>
        <p:spPr>
          <a:xfrm rot="0">
            <a:off x="1912101" y="2974202"/>
            <a:ext cx="6911238" cy="892810"/>
          </a:xfrm>
          <a:prstGeom prst="rect">
            <a:avLst/>
          </a:prstGeom>
        </p:spPr>
        <p:txBody>
          <a:bodyPr anchor="t" rtlCol="false" tIns="0" lIns="0" bIns="0" rIns="0">
            <a:spAutoFit/>
          </a:bodyPr>
          <a:lstStyle/>
          <a:p>
            <a:pPr algn="l">
              <a:lnSpc>
                <a:spcPts val="3680"/>
              </a:lnSpc>
            </a:pPr>
            <a:r>
              <a:rPr lang="en-US" sz="2300">
                <a:solidFill>
                  <a:srgbClr val="000000"/>
                </a:solidFill>
                <a:latin typeface="Open Sauce"/>
                <a:ea typeface="Open Sauce"/>
                <a:cs typeface="Open Sauce"/>
                <a:sym typeface="Open Sauce"/>
              </a:rPr>
              <a:t>ChatGPT captures emotion well when trying to describe viewers’ feelings.</a:t>
            </a:r>
          </a:p>
        </p:txBody>
      </p:sp>
      <p:sp>
        <p:nvSpPr>
          <p:cNvPr name="Freeform 6" id="6"/>
          <p:cNvSpPr/>
          <p:nvPr/>
        </p:nvSpPr>
        <p:spPr>
          <a:xfrm flipH="false" flipV="false" rot="861077">
            <a:off x="13366115" y="-308259"/>
            <a:ext cx="1434867" cy="1387908"/>
          </a:xfrm>
          <a:custGeom>
            <a:avLst/>
            <a:gdLst/>
            <a:ahLst/>
            <a:cxnLst/>
            <a:rect r="r" b="b" t="t" l="l"/>
            <a:pathLst>
              <a:path h="1387908" w="1434867">
                <a:moveTo>
                  <a:pt x="0" y="0"/>
                </a:moveTo>
                <a:lnTo>
                  <a:pt x="1434867" y="0"/>
                </a:lnTo>
                <a:lnTo>
                  <a:pt x="1434867" y="1387908"/>
                </a:lnTo>
                <a:lnTo>
                  <a:pt x="0" y="1387908"/>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861077">
            <a:off x="15073775" y="-818508"/>
            <a:ext cx="3575300" cy="3458290"/>
          </a:xfrm>
          <a:custGeom>
            <a:avLst/>
            <a:gdLst/>
            <a:ahLst/>
            <a:cxnLst/>
            <a:rect r="r" b="b" t="t" l="l"/>
            <a:pathLst>
              <a:path h="3458290" w="3575300">
                <a:moveTo>
                  <a:pt x="0" y="0"/>
                </a:moveTo>
                <a:lnTo>
                  <a:pt x="3575300" y="0"/>
                </a:lnTo>
                <a:lnTo>
                  <a:pt x="3575300" y="3458291"/>
                </a:lnTo>
                <a:lnTo>
                  <a:pt x="0" y="3458291"/>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861077">
            <a:off x="12446825" y="3547933"/>
            <a:ext cx="2789500" cy="2698207"/>
          </a:xfrm>
          <a:custGeom>
            <a:avLst/>
            <a:gdLst/>
            <a:ahLst/>
            <a:cxnLst/>
            <a:rect r="r" b="b" t="t" l="l"/>
            <a:pathLst>
              <a:path h="2698207" w="2789500">
                <a:moveTo>
                  <a:pt x="0" y="0"/>
                </a:moveTo>
                <a:lnTo>
                  <a:pt x="2789499" y="0"/>
                </a:lnTo>
                <a:lnTo>
                  <a:pt x="2789499" y="2698207"/>
                </a:lnTo>
                <a:lnTo>
                  <a:pt x="0" y="2698207"/>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9" id="9"/>
          <p:cNvSpPr/>
          <p:nvPr/>
        </p:nvSpPr>
        <p:spPr>
          <a:xfrm flipH="false" flipV="false" rot="861077">
            <a:off x="12928923" y="5566439"/>
            <a:ext cx="4853031" cy="4694204"/>
          </a:xfrm>
          <a:custGeom>
            <a:avLst/>
            <a:gdLst/>
            <a:ahLst/>
            <a:cxnLst/>
            <a:rect r="r" b="b" t="t" l="l"/>
            <a:pathLst>
              <a:path h="4694204" w="4853031">
                <a:moveTo>
                  <a:pt x="0" y="0"/>
                </a:moveTo>
                <a:lnTo>
                  <a:pt x="4853031" y="0"/>
                </a:lnTo>
                <a:lnTo>
                  <a:pt x="4853031" y="4694204"/>
                </a:lnTo>
                <a:lnTo>
                  <a:pt x="0" y="4694204"/>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861077">
            <a:off x="9542904" y="9307950"/>
            <a:ext cx="2024351" cy="1958100"/>
          </a:xfrm>
          <a:custGeom>
            <a:avLst/>
            <a:gdLst/>
            <a:ahLst/>
            <a:cxnLst/>
            <a:rect r="r" b="b" t="t" l="l"/>
            <a:pathLst>
              <a:path h="1958100" w="2024351">
                <a:moveTo>
                  <a:pt x="0" y="0"/>
                </a:moveTo>
                <a:lnTo>
                  <a:pt x="2024352" y="0"/>
                </a:lnTo>
                <a:lnTo>
                  <a:pt x="2024352" y="1958100"/>
                </a:lnTo>
                <a:lnTo>
                  <a:pt x="0" y="1958100"/>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861077">
            <a:off x="10368302" y="6101974"/>
            <a:ext cx="3575300" cy="3458290"/>
          </a:xfrm>
          <a:custGeom>
            <a:avLst/>
            <a:gdLst/>
            <a:ahLst/>
            <a:cxnLst/>
            <a:rect r="r" b="b" t="t" l="l"/>
            <a:pathLst>
              <a:path h="3458290" w="3575300">
                <a:moveTo>
                  <a:pt x="0" y="0"/>
                </a:moveTo>
                <a:lnTo>
                  <a:pt x="3575300" y="0"/>
                </a:lnTo>
                <a:lnTo>
                  <a:pt x="3575300" y="3458290"/>
                </a:lnTo>
                <a:lnTo>
                  <a:pt x="0" y="3458290"/>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2" id="12"/>
          <p:cNvSpPr/>
          <p:nvPr/>
        </p:nvSpPr>
        <p:spPr>
          <a:xfrm flipH="false" flipV="false" rot="861077">
            <a:off x="16439306" y="8564346"/>
            <a:ext cx="1434867" cy="1387908"/>
          </a:xfrm>
          <a:custGeom>
            <a:avLst/>
            <a:gdLst/>
            <a:ahLst/>
            <a:cxnLst/>
            <a:rect r="r" b="b" t="t" l="l"/>
            <a:pathLst>
              <a:path h="1387908" w="1434867">
                <a:moveTo>
                  <a:pt x="0" y="0"/>
                </a:moveTo>
                <a:lnTo>
                  <a:pt x="1434868" y="0"/>
                </a:lnTo>
                <a:lnTo>
                  <a:pt x="1434868" y="1387908"/>
                </a:lnTo>
                <a:lnTo>
                  <a:pt x="0" y="1387908"/>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3" id="13"/>
          <p:cNvSpPr/>
          <p:nvPr/>
        </p:nvSpPr>
        <p:spPr>
          <a:xfrm flipH="false" flipV="false" rot="861077">
            <a:off x="16439306" y="3352956"/>
            <a:ext cx="1434867" cy="1387908"/>
          </a:xfrm>
          <a:custGeom>
            <a:avLst/>
            <a:gdLst/>
            <a:ahLst/>
            <a:cxnLst/>
            <a:rect r="r" b="b" t="t" l="l"/>
            <a:pathLst>
              <a:path h="1387908" w="1434867">
                <a:moveTo>
                  <a:pt x="0" y="0"/>
                </a:moveTo>
                <a:lnTo>
                  <a:pt x="1434868" y="0"/>
                </a:lnTo>
                <a:lnTo>
                  <a:pt x="1434868" y="1387908"/>
                </a:lnTo>
                <a:lnTo>
                  <a:pt x="0" y="1387908"/>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4" id="14"/>
          <p:cNvSpPr/>
          <p:nvPr/>
        </p:nvSpPr>
        <p:spPr>
          <a:xfrm flipH="false" flipV="false" rot="861077">
            <a:off x="10358537" y="2738533"/>
            <a:ext cx="947510" cy="916501"/>
          </a:xfrm>
          <a:custGeom>
            <a:avLst/>
            <a:gdLst/>
            <a:ahLst/>
            <a:cxnLst/>
            <a:rect r="r" b="b" t="t" l="l"/>
            <a:pathLst>
              <a:path h="916501" w="947510">
                <a:moveTo>
                  <a:pt x="0" y="0"/>
                </a:moveTo>
                <a:lnTo>
                  <a:pt x="947510" y="0"/>
                </a:lnTo>
                <a:lnTo>
                  <a:pt x="947510" y="916501"/>
                </a:lnTo>
                <a:lnTo>
                  <a:pt x="0" y="916501"/>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5" id="15"/>
          <p:cNvSpPr/>
          <p:nvPr/>
        </p:nvSpPr>
        <p:spPr>
          <a:xfrm flipH="false" flipV="false" rot="861077">
            <a:off x="10097328" y="-1149732"/>
            <a:ext cx="2024351" cy="1958100"/>
          </a:xfrm>
          <a:custGeom>
            <a:avLst/>
            <a:gdLst/>
            <a:ahLst/>
            <a:cxnLst/>
            <a:rect r="r" b="b" t="t" l="l"/>
            <a:pathLst>
              <a:path h="1958100" w="2024351">
                <a:moveTo>
                  <a:pt x="0" y="0"/>
                </a:moveTo>
                <a:lnTo>
                  <a:pt x="2024351" y="0"/>
                </a:lnTo>
                <a:lnTo>
                  <a:pt x="2024351" y="1958100"/>
                </a:lnTo>
                <a:lnTo>
                  <a:pt x="0" y="1958100"/>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861077">
            <a:off x="10049492" y="4473159"/>
            <a:ext cx="1565600" cy="1514362"/>
          </a:xfrm>
          <a:custGeom>
            <a:avLst/>
            <a:gdLst/>
            <a:ahLst/>
            <a:cxnLst/>
            <a:rect r="r" b="b" t="t" l="l"/>
            <a:pathLst>
              <a:path h="1514362" w="1565600">
                <a:moveTo>
                  <a:pt x="0" y="0"/>
                </a:moveTo>
                <a:lnTo>
                  <a:pt x="1565600" y="0"/>
                </a:lnTo>
                <a:lnTo>
                  <a:pt x="1565600" y="1514362"/>
                </a:lnTo>
                <a:lnTo>
                  <a:pt x="0" y="1514362"/>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7" id="17"/>
          <p:cNvSpPr/>
          <p:nvPr/>
        </p:nvSpPr>
        <p:spPr>
          <a:xfrm flipH="false" flipV="false" rot="861077">
            <a:off x="12595741" y="1759155"/>
            <a:ext cx="1657783" cy="1603528"/>
          </a:xfrm>
          <a:custGeom>
            <a:avLst/>
            <a:gdLst/>
            <a:ahLst/>
            <a:cxnLst/>
            <a:rect r="r" b="b" t="t" l="l"/>
            <a:pathLst>
              <a:path h="1603528" w="1657783">
                <a:moveTo>
                  <a:pt x="0" y="0"/>
                </a:moveTo>
                <a:lnTo>
                  <a:pt x="1657783" y="0"/>
                </a:lnTo>
                <a:lnTo>
                  <a:pt x="1657783" y="1603528"/>
                </a:lnTo>
                <a:lnTo>
                  <a:pt x="0" y="1603528"/>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8" id="18"/>
          <p:cNvGrpSpPr/>
          <p:nvPr/>
        </p:nvGrpSpPr>
        <p:grpSpPr>
          <a:xfrm rot="0">
            <a:off x="1123950" y="3109457"/>
            <a:ext cx="549527" cy="549527"/>
            <a:chOff x="0" y="0"/>
            <a:chExt cx="732702" cy="732702"/>
          </a:xfrm>
        </p:grpSpPr>
        <p:grpSp>
          <p:nvGrpSpPr>
            <p:cNvPr name="Group 19" id="19"/>
            <p:cNvGrpSpPr/>
            <p:nvPr/>
          </p:nvGrpSpPr>
          <p:grpSpPr>
            <a:xfrm rot="0">
              <a:off x="0" y="0"/>
              <a:ext cx="732702" cy="73270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22" id="22"/>
            <p:cNvSpPr txBox="true"/>
            <p:nvPr/>
          </p:nvSpPr>
          <p:spPr>
            <a:xfrm rot="0">
              <a:off x="22077"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1</a:t>
              </a:r>
            </a:p>
          </p:txBody>
        </p:sp>
      </p:grpSp>
      <p:grpSp>
        <p:nvGrpSpPr>
          <p:cNvPr name="Group 23" id="23"/>
          <p:cNvGrpSpPr/>
          <p:nvPr/>
        </p:nvGrpSpPr>
        <p:grpSpPr>
          <a:xfrm rot="0">
            <a:off x="1123950" y="4369434"/>
            <a:ext cx="549527" cy="549527"/>
            <a:chOff x="0" y="0"/>
            <a:chExt cx="732702" cy="732702"/>
          </a:xfrm>
        </p:grpSpPr>
        <p:grpSp>
          <p:nvGrpSpPr>
            <p:cNvPr name="Group 24" id="24"/>
            <p:cNvGrpSpPr/>
            <p:nvPr/>
          </p:nvGrpSpPr>
          <p:grpSpPr>
            <a:xfrm rot="0">
              <a:off x="0" y="0"/>
              <a:ext cx="732702" cy="73270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27" id="27"/>
            <p:cNvSpPr txBox="true"/>
            <p:nvPr/>
          </p:nvSpPr>
          <p:spPr>
            <a:xfrm rot="0">
              <a:off x="29746"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2</a:t>
              </a:r>
            </a:p>
          </p:txBody>
        </p:sp>
      </p:grpSp>
      <p:grpSp>
        <p:nvGrpSpPr>
          <p:cNvPr name="Group 28" id="28"/>
          <p:cNvGrpSpPr/>
          <p:nvPr/>
        </p:nvGrpSpPr>
        <p:grpSpPr>
          <a:xfrm rot="0">
            <a:off x="1123950" y="5480937"/>
            <a:ext cx="549527" cy="549527"/>
            <a:chOff x="0" y="0"/>
            <a:chExt cx="732702" cy="732702"/>
          </a:xfrm>
        </p:grpSpPr>
        <p:grpSp>
          <p:nvGrpSpPr>
            <p:cNvPr name="Group 29" id="29"/>
            <p:cNvGrpSpPr/>
            <p:nvPr/>
          </p:nvGrpSpPr>
          <p:grpSpPr>
            <a:xfrm rot="0">
              <a:off x="0" y="0"/>
              <a:ext cx="732702" cy="732702"/>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31" id="31"/>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32" id="32"/>
            <p:cNvSpPr txBox="true"/>
            <p:nvPr/>
          </p:nvSpPr>
          <p:spPr>
            <a:xfrm rot="0">
              <a:off x="29746"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3</a:t>
              </a:r>
            </a:p>
          </p:txBody>
        </p:sp>
      </p:grpSp>
      <p:grpSp>
        <p:nvGrpSpPr>
          <p:cNvPr name="Group 33" id="33"/>
          <p:cNvGrpSpPr/>
          <p:nvPr/>
        </p:nvGrpSpPr>
        <p:grpSpPr>
          <a:xfrm rot="0">
            <a:off x="1123950" y="7440166"/>
            <a:ext cx="549527" cy="549527"/>
            <a:chOff x="0" y="0"/>
            <a:chExt cx="732702" cy="732702"/>
          </a:xfrm>
        </p:grpSpPr>
        <p:grpSp>
          <p:nvGrpSpPr>
            <p:cNvPr name="Group 34" id="34"/>
            <p:cNvGrpSpPr/>
            <p:nvPr/>
          </p:nvGrpSpPr>
          <p:grpSpPr>
            <a:xfrm rot="0">
              <a:off x="0" y="0"/>
              <a:ext cx="732702" cy="732702"/>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sp>
          <p:nvSpPr>
            <p:cNvPr name="TextBox 37" id="37"/>
            <p:cNvSpPr txBox="true"/>
            <p:nvPr/>
          </p:nvSpPr>
          <p:spPr>
            <a:xfrm rot="0">
              <a:off x="29746" y="112027"/>
              <a:ext cx="657871" cy="457312"/>
            </a:xfrm>
            <a:prstGeom prst="rect">
              <a:avLst/>
            </a:prstGeom>
          </p:spPr>
          <p:txBody>
            <a:bodyPr anchor="t" rtlCol="false" tIns="0" lIns="0" bIns="0" rIns="0">
              <a:spAutoFit/>
            </a:bodyPr>
            <a:lstStyle/>
            <a:p>
              <a:pPr algn="ctr" marL="0" indent="0" lvl="0">
                <a:lnSpc>
                  <a:spcPts val="3091"/>
                </a:lnSpc>
              </a:pPr>
              <a:r>
                <a:rPr lang="en-US" b="true" sz="1932">
                  <a:solidFill>
                    <a:srgbClr val="000000"/>
                  </a:solidFill>
                  <a:latin typeface="Open Sauce Bold"/>
                  <a:ea typeface="Open Sauce Bold"/>
                  <a:cs typeface="Open Sauce Bold"/>
                  <a:sym typeface="Open Sauce Bold"/>
                </a:rPr>
                <a:t>4</a:t>
              </a:r>
            </a:p>
          </p:txBody>
        </p:sp>
      </p:grpSp>
      <p:sp>
        <p:nvSpPr>
          <p:cNvPr name="TextBox 38" id="38"/>
          <p:cNvSpPr txBox="true"/>
          <p:nvPr/>
        </p:nvSpPr>
        <p:spPr>
          <a:xfrm rot="0">
            <a:off x="1912101" y="4226558"/>
            <a:ext cx="6225237" cy="892810"/>
          </a:xfrm>
          <a:prstGeom prst="rect">
            <a:avLst/>
          </a:prstGeom>
        </p:spPr>
        <p:txBody>
          <a:bodyPr anchor="t" rtlCol="false" tIns="0" lIns="0" bIns="0" rIns="0">
            <a:spAutoFit/>
          </a:bodyPr>
          <a:lstStyle/>
          <a:p>
            <a:pPr algn="l">
              <a:lnSpc>
                <a:spcPts val="3680"/>
              </a:lnSpc>
              <a:spcBef>
                <a:spcPct val="0"/>
              </a:spcBef>
            </a:pPr>
            <a:r>
              <a:rPr lang="en-US" sz="2300">
                <a:solidFill>
                  <a:srgbClr val="000000"/>
                </a:solidFill>
                <a:latin typeface="Open Sauce"/>
                <a:ea typeface="Open Sauce"/>
                <a:cs typeface="Open Sauce"/>
                <a:sym typeface="Open Sauce"/>
              </a:rPr>
              <a:t>Objective properties of the image also help predict it’s affect.</a:t>
            </a:r>
          </a:p>
        </p:txBody>
      </p:sp>
      <p:sp>
        <p:nvSpPr>
          <p:cNvPr name="TextBox 39" id="39"/>
          <p:cNvSpPr txBox="true"/>
          <p:nvPr/>
        </p:nvSpPr>
        <p:spPr>
          <a:xfrm rot="0">
            <a:off x="1912101" y="5404737"/>
            <a:ext cx="6742458" cy="1826260"/>
          </a:xfrm>
          <a:prstGeom prst="rect">
            <a:avLst/>
          </a:prstGeom>
        </p:spPr>
        <p:txBody>
          <a:bodyPr anchor="t" rtlCol="false" tIns="0" lIns="0" bIns="0" rIns="0">
            <a:spAutoFit/>
          </a:bodyPr>
          <a:lstStyle/>
          <a:p>
            <a:pPr algn="l">
              <a:lnSpc>
                <a:spcPts val="3680"/>
              </a:lnSpc>
              <a:spcBef>
                <a:spcPct val="0"/>
              </a:spcBef>
            </a:pPr>
            <a:r>
              <a:rPr lang="en-US" sz="2300">
                <a:solidFill>
                  <a:srgbClr val="000000"/>
                </a:solidFill>
                <a:latin typeface="Open Sauce"/>
                <a:ea typeface="Open Sauce"/>
                <a:cs typeface="Open Sauce"/>
                <a:sym typeface="Open Sauce"/>
              </a:rPr>
              <a:t>Emotions with clear visual "signatures" (disgust, fear, anger) are consistently easier to classify than Emotions that require more psychological nuance (contentment, amusement)</a:t>
            </a:r>
          </a:p>
        </p:txBody>
      </p:sp>
      <p:sp>
        <p:nvSpPr>
          <p:cNvPr name="TextBox 40" id="40"/>
          <p:cNvSpPr txBox="true"/>
          <p:nvPr/>
        </p:nvSpPr>
        <p:spPr>
          <a:xfrm rot="0">
            <a:off x="1912101" y="7363966"/>
            <a:ext cx="6911238" cy="1359535"/>
          </a:xfrm>
          <a:prstGeom prst="rect">
            <a:avLst/>
          </a:prstGeom>
        </p:spPr>
        <p:txBody>
          <a:bodyPr anchor="t" rtlCol="false" tIns="0" lIns="0" bIns="0" rIns="0">
            <a:spAutoFit/>
          </a:bodyPr>
          <a:lstStyle/>
          <a:p>
            <a:pPr algn="l">
              <a:lnSpc>
                <a:spcPts val="3680"/>
              </a:lnSpc>
              <a:spcBef>
                <a:spcPct val="0"/>
              </a:spcBef>
            </a:pPr>
            <a:r>
              <a:rPr lang="en-US" sz="2300">
                <a:solidFill>
                  <a:srgbClr val="000000"/>
                </a:solidFill>
                <a:latin typeface="Open Sauce"/>
                <a:ea typeface="Open Sauce"/>
                <a:cs typeface="Open Sauce"/>
                <a:sym typeface="Open Sauce"/>
              </a:rPr>
              <a:t>Affective valence is highly recoverable from visual and semantic features, while fine-grained categorical emotion is much harder</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399925" y="209689"/>
            <a:ext cx="15859375" cy="10077311"/>
          </a:xfrm>
          <a:custGeom>
            <a:avLst/>
            <a:gdLst/>
            <a:ahLst/>
            <a:cxnLst/>
            <a:rect r="r" b="b" t="t" l="l"/>
            <a:pathLst>
              <a:path h="10077311" w="15859375">
                <a:moveTo>
                  <a:pt x="0" y="0"/>
                </a:moveTo>
                <a:lnTo>
                  <a:pt x="15859375" y="0"/>
                </a:lnTo>
                <a:lnTo>
                  <a:pt x="15859375" y="10077311"/>
                </a:lnTo>
                <a:lnTo>
                  <a:pt x="0" y="10077311"/>
                </a:lnTo>
                <a:lnTo>
                  <a:pt x="0" y="0"/>
                </a:lnTo>
                <a:close/>
              </a:path>
            </a:pathLst>
          </a:custGeom>
          <a:blipFill>
            <a:blip r:embed="rId2">
              <a:alphaModFix amt="99000"/>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alphaModFix amt="51000"/>
          </a:blip>
          <a:srcRect l="0" t="0" r="0" b="0"/>
          <a:stretch>
            <a:fillRect/>
          </a:stretch>
        </p:blipFill>
        <p:spPr>
          <a:xfrm flipH="false" flipV="false" rot="0">
            <a:off x="0" y="-68580"/>
            <a:ext cx="18288000" cy="10424160"/>
          </a:xfrm>
          <a:prstGeom prst="rect">
            <a:avLst/>
          </a:prstGeom>
        </p:spPr>
      </p:pic>
      <p:sp>
        <p:nvSpPr>
          <p:cNvPr name="TextBox 3" id="3"/>
          <p:cNvSpPr txBox="true"/>
          <p:nvPr/>
        </p:nvSpPr>
        <p:spPr>
          <a:xfrm rot="0">
            <a:off x="4070534" y="3515992"/>
            <a:ext cx="10146931" cy="2931165"/>
          </a:xfrm>
          <a:prstGeom prst="rect">
            <a:avLst/>
          </a:prstGeom>
        </p:spPr>
        <p:txBody>
          <a:bodyPr anchor="t" rtlCol="false" tIns="0" lIns="0" bIns="0" rIns="0">
            <a:spAutoFit/>
          </a:bodyPr>
          <a:lstStyle/>
          <a:p>
            <a:pPr algn="ctr">
              <a:lnSpc>
                <a:spcPts val="23951"/>
              </a:lnSpc>
              <a:spcBef>
                <a:spcPct val="0"/>
              </a:spcBef>
            </a:pPr>
            <a:r>
              <a:rPr lang="en-US" sz="17108">
                <a:solidFill>
                  <a:srgbClr val="000000"/>
                </a:solidFill>
                <a:latin typeface="DM Serif Display"/>
                <a:ea typeface="DM Serif Display"/>
                <a:cs typeface="DM Serif Display"/>
                <a:sym typeface="DM Serif Display"/>
              </a:rPr>
              <a:t>Thank You</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DAHEBcHGJbQ</dc:identifier>
  <dcterms:modified xsi:type="dcterms:W3CDTF">2011-08-01T06:04:30Z</dcterms:modified>
  <cp:revision>1</cp:revision>
  <dc:title>machine learning final project</dc:title>
</cp:coreProperties>
</file>